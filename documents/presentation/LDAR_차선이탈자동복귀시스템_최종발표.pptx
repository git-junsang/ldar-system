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9" r:id="rId7"/>
    <p:sldId id="261" r:id="rId8"/>
    <p:sldId id="267" r:id="rId9"/>
    <p:sldId id="263" r:id="rId10"/>
    <p:sldId id="271" r:id="rId11"/>
    <p:sldId id="270" r:id="rId12"/>
    <p:sldId id="264" r:id="rId13"/>
    <p:sldId id="268" r:id="rId14"/>
    <p:sldId id="265" r:id="rId15"/>
    <p:sldId id="266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47" d="100"/>
          <a:sy n="47" d="100"/>
        </p:scale>
        <p:origin x="86" y="73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7262445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FFC8E-133A-9F26-0A9D-1915147C1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1CBCEDA-743C-E39B-CC5E-F485A0261B7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817C4746-3DC5-0378-4FF8-4703FA60AB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6B2CCC-C595-2738-9912-AC6C1BDAC3B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84825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B920C4-42FF-A757-36E3-850ABE36C5D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A903699-4745-A21E-E169-2962751C6D4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8E188D1-6BFE-D325-5AE0-058EAB9D3AF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7F799B3-52FE-4E6F-6CAD-F171F2C49FE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646748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86B96C0-0121-1E00-A405-4634C9DA8A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6A4C482-4D74-64BD-77D1-3250A5D435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000856D-FE62-23B7-0155-5D26562C2CE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7FD4AB-108A-0654-8223-E0DECD20423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12704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6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11480"/>
            <a:ext cx="10058400" cy="502920"/>
          </a:xfrm>
          <a:prstGeom prst="roundRect">
            <a:avLst>
              <a:gd name="adj" fmla="val 4909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777240" y="411480"/>
            <a:ext cx="6400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200" b="1" kern="0" spc="300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고급프로젝트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858000" y="411480"/>
            <a:ext cx="34290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ko-KR" altLang="en-US" sz="1200" b="1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서준상</a:t>
            </a:r>
            <a:r>
              <a:rPr lang="en-US" altLang="ko-KR" sz="1200" b="1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1200" b="1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정은진</a:t>
            </a:r>
            <a:endParaRPr lang="en-US" sz="1200" b="1" dirty="0"/>
          </a:p>
        </p:txBody>
      </p:sp>
      <p:sp>
        <p:nvSpPr>
          <p:cNvPr id="5" name="Shape 3"/>
          <p:cNvSpPr/>
          <p:nvPr/>
        </p:nvSpPr>
        <p:spPr>
          <a:xfrm>
            <a:off x="10698480" y="411480"/>
            <a:ext cx="960120" cy="502920"/>
          </a:xfrm>
          <a:prstGeom prst="roundRect">
            <a:avLst>
              <a:gd name="adj" fmla="val 4909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" name="Text 4"/>
          <p:cNvSpPr/>
          <p:nvPr/>
        </p:nvSpPr>
        <p:spPr>
          <a:xfrm>
            <a:off x="10698480" y="411480"/>
            <a:ext cx="960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</a:t>
            </a:r>
            <a:r>
              <a:rPr lang="ko-KR" alt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502920" y="1234439"/>
            <a:ext cx="7040880" cy="4801757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8" name="Shape 6"/>
          <p:cNvSpPr/>
          <p:nvPr/>
        </p:nvSpPr>
        <p:spPr>
          <a:xfrm>
            <a:off x="822960" y="2223497"/>
            <a:ext cx="164592" cy="246888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9" name="Text 7"/>
          <p:cNvSpPr/>
          <p:nvPr/>
        </p:nvSpPr>
        <p:spPr>
          <a:xfrm>
            <a:off x="1188720" y="2467145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00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PRESENTATION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88720" y="2878625"/>
            <a:ext cx="612648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en-US" sz="3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표지판 인식 기반
</a:t>
            </a:r>
            <a:r>
              <a:rPr lang="en-US" sz="34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자율 제어 시스템</a:t>
            </a:r>
            <a:endParaRPr lang="en-US" sz="3400" dirty="0"/>
          </a:p>
        </p:txBody>
      </p:sp>
      <p:sp>
        <p:nvSpPr>
          <p:cNvPr id="12" name="Shape 10"/>
          <p:cNvSpPr/>
          <p:nvPr/>
        </p:nvSpPr>
        <p:spPr>
          <a:xfrm>
            <a:off x="7726680" y="1234439"/>
            <a:ext cx="3931920" cy="4801757"/>
          </a:xfrm>
          <a:prstGeom prst="roundRect">
            <a:avLst>
              <a:gd name="adj" fmla="val 2778"/>
            </a:avLst>
          </a:prstGeom>
          <a:solidFill>
            <a:srgbClr val="E4E0FB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Shape 11"/>
          <p:cNvSpPr/>
          <p:nvPr/>
        </p:nvSpPr>
        <p:spPr>
          <a:xfrm>
            <a:off x="8869680" y="2314937"/>
            <a:ext cx="1645920" cy="1645920"/>
          </a:xfrm>
          <a:prstGeom prst="ellipse">
            <a:avLst/>
          </a:prstGeom>
          <a:solidFill>
            <a:srgbClr val="FFFFFF"/>
          </a:solidFill>
          <a:ln w="63500">
            <a:solidFill>
              <a:srgbClr val="E74C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2"/>
          <p:cNvSpPr/>
          <p:nvPr/>
        </p:nvSpPr>
        <p:spPr>
          <a:xfrm>
            <a:off x="8869680" y="2360657"/>
            <a:ext cx="16459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</a:t>
            </a:r>
            <a:endParaRPr lang="en-US" sz="4800" dirty="0"/>
          </a:p>
        </p:txBody>
      </p:sp>
      <p:sp>
        <p:nvSpPr>
          <p:cNvPr id="15" name="Shape 13"/>
          <p:cNvSpPr/>
          <p:nvPr/>
        </p:nvSpPr>
        <p:spPr>
          <a:xfrm>
            <a:off x="8366760" y="4189457"/>
            <a:ext cx="2651760" cy="502920"/>
          </a:xfrm>
          <a:prstGeom prst="roundRect">
            <a:avLst>
              <a:gd name="adj" fmla="val 49091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4"/>
          <p:cNvSpPr/>
          <p:nvPr/>
        </p:nvSpPr>
        <p:spPr>
          <a:xfrm>
            <a:off x="8366760" y="4189457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 · 진입금지 · 속도제한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보고 순서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icons/w_che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612648"/>
            <a:ext cx="329184" cy="329184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640080" y="160020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1" name="Text 8"/>
          <p:cNvSpPr/>
          <p:nvPr/>
        </p:nvSpPr>
        <p:spPr>
          <a:xfrm>
            <a:off x="86868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4400" dirty="0"/>
          </a:p>
        </p:txBody>
      </p:sp>
      <p:sp>
        <p:nvSpPr>
          <p:cNvPr id="12" name="Shape 9"/>
          <p:cNvSpPr/>
          <p:nvPr/>
        </p:nvSpPr>
        <p:spPr>
          <a:xfrm>
            <a:off x="3108960" y="19202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3" name="Text 10"/>
          <p:cNvSpPr/>
          <p:nvPr/>
        </p:nvSpPr>
        <p:spPr>
          <a:xfrm>
            <a:off x="3108960" y="188366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914400" y="2697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1800" dirty="0"/>
          </a:p>
        </p:txBody>
      </p:sp>
      <p:sp>
        <p:nvSpPr>
          <p:cNvPr id="16" name="Shape 13"/>
          <p:cNvSpPr/>
          <p:nvPr/>
        </p:nvSpPr>
        <p:spPr>
          <a:xfrm>
            <a:off x="4389120" y="160020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461772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4400" dirty="0"/>
          </a:p>
        </p:txBody>
      </p:sp>
      <p:sp>
        <p:nvSpPr>
          <p:cNvPr id="18" name="Shape 15"/>
          <p:cNvSpPr/>
          <p:nvPr/>
        </p:nvSpPr>
        <p:spPr>
          <a:xfrm>
            <a:off x="6858000" y="19202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6858000" y="188366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4663440" y="2697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</a:t>
            </a:r>
            <a:endParaRPr lang="en-US" sz="1800" dirty="0"/>
          </a:p>
        </p:txBody>
      </p:sp>
      <p:sp>
        <p:nvSpPr>
          <p:cNvPr id="22" name="Shape 19"/>
          <p:cNvSpPr/>
          <p:nvPr/>
        </p:nvSpPr>
        <p:spPr>
          <a:xfrm>
            <a:off x="8138160" y="160020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Text 20"/>
          <p:cNvSpPr/>
          <p:nvPr/>
        </p:nvSpPr>
        <p:spPr>
          <a:xfrm>
            <a:off x="8366760" y="178308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4400" dirty="0"/>
          </a:p>
        </p:txBody>
      </p:sp>
      <p:sp>
        <p:nvSpPr>
          <p:cNvPr id="24" name="Shape 21"/>
          <p:cNvSpPr/>
          <p:nvPr/>
        </p:nvSpPr>
        <p:spPr>
          <a:xfrm>
            <a:off x="10607040" y="192024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Text 22"/>
          <p:cNvSpPr/>
          <p:nvPr/>
        </p:nvSpPr>
        <p:spPr>
          <a:xfrm>
            <a:off x="10607040" y="188366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000" dirty="0"/>
          </a:p>
        </p:txBody>
      </p:sp>
      <p:sp>
        <p:nvSpPr>
          <p:cNvPr id="26" name="Text 23"/>
          <p:cNvSpPr/>
          <p:nvPr/>
        </p:nvSpPr>
        <p:spPr>
          <a:xfrm>
            <a:off x="8412480" y="269748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&amp; 판정</a:t>
            </a:r>
            <a:endParaRPr lang="en-US" sz="1800" dirty="0"/>
          </a:p>
        </p:txBody>
      </p:sp>
      <p:sp>
        <p:nvSpPr>
          <p:cNvPr id="28" name="Shape 25"/>
          <p:cNvSpPr/>
          <p:nvPr/>
        </p:nvSpPr>
        <p:spPr>
          <a:xfrm>
            <a:off x="640080" y="3840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6"/>
          <p:cNvSpPr/>
          <p:nvPr/>
        </p:nvSpPr>
        <p:spPr>
          <a:xfrm>
            <a:off x="86868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4400" dirty="0"/>
          </a:p>
        </p:txBody>
      </p:sp>
      <p:sp>
        <p:nvSpPr>
          <p:cNvPr id="30" name="Shape 27"/>
          <p:cNvSpPr/>
          <p:nvPr/>
        </p:nvSpPr>
        <p:spPr>
          <a:xfrm>
            <a:off x="3108960" y="416052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8"/>
          <p:cNvSpPr/>
          <p:nvPr/>
        </p:nvSpPr>
        <p:spPr>
          <a:xfrm>
            <a:off x="3108960" y="412394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000" dirty="0"/>
          </a:p>
        </p:txBody>
      </p:sp>
      <p:sp>
        <p:nvSpPr>
          <p:cNvPr id="32" name="Text 29"/>
          <p:cNvSpPr/>
          <p:nvPr/>
        </p:nvSpPr>
        <p:spPr>
          <a:xfrm>
            <a:off x="914400" y="4937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4389120" y="3840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461772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4400" dirty="0"/>
          </a:p>
        </p:txBody>
      </p:sp>
      <p:sp>
        <p:nvSpPr>
          <p:cNvPr id="36" name="Shape 33"/>
          <p:cNvSpPr/>
          <p:nvPr/>
        </p:nvSpPr>
        <p:spPr>
          <a:xfrm>
            <a:off x="6858000" y="416052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Text 34"/>
          <p:cNvSpPr/>
          <p:nvPr/>
        </p:nvSpPr>
        <p:spPr>
          <a:xfrm>
            <a:off x="6858000" y="412394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000" dirty="0"/>
          </a:p>
        </p:txBody>
      </p:sp>
      <p:sp>
        <p:nvSpPr>
          <p:cNvPr id="38" name="Text 35"/>
          <p:cNvSpPr/>
          <p:nvPr/>
        </p:nvSpPr>
        <p:spPr>
          <a:xfrm>
            <a:off x="4663440" y="4937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&amp; 제어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8138160" y="3840480"/>
            <a:ext cx="347472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8366760" y="40233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4400" dirty="0"/>
          </a:p>
        </p:txBody>
      </p:sp>
      <p:sp>
        <p:nvSpPr>
          <p:cNvPr id="42" name="Shape 39"/>
          <p:cNvSpPr/>
          <p:nvPr/>
        </p:nvSpPr>
        <p:spPr>
          <a:xfrm>
            <a:off x="10607040" y="4160520"/>
            <a:ext cx="777240" cy="54864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3" name="Text 40"/>
          <p:cNvSpPr/>
          <p:nvPr/>
        </p:nvSpPr>
        <p:spPr>
          <a:xfrm>
            <a:off x="10607040" y="4123944"/>
            <a:ext cx="777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000" dirty="0"/>
          </a:p>
        </p:txBody>
      </p:sp>
      <p:sp>
        <p:nvSpPr>
          <p:cNvPr id="44" name="Text 41"/>
          <p:cNvSpPr/>
          <p:nvPr/>
        </p:nvSpPr>
        <p:spPr>
          <a:xfrm>
            <a:off x="8412480" y="4937760"/>
            <a:ext cx="30175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현황 &amp; 계획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01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프로젝트 개요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155680" cy="1005840"/>
          </a:xfrm>
          <a:prstGeom prst="roundRect">
            <a:avLst>
              <a:gd name="adj" fmla="val 909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icons/p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572768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37160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수동 조종 중 표지판을 인식하면, 시스템이 제어권을 가져와 </a:t>
            </a:r>
            <a:r>
              <a:rPr lang="en-US" sz="15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자동으로 멈추거나 속도를 제한</a:t>
            </a:r>
            <a:r>
              <a:rPr lang="en-US" sz="15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하는 ADAS 프로토타입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502920" y="260604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1783080" y="31318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4A3AB5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icons/w_gamepa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65960" y="3314700"/>
            <a:ext cx="502920" cy="50292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77240" y="41376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평소 : 수동 조종</a:t>
            </a:r>
            <a:endParaRPr lang="en-US" sz="1600" dirty="0"/>
          </a:p>
        </p:txBody>
      </p:sp>
      <p:sp>
        <p:nvSpPr>
          <p:cNvPr id="16" name="Shape 12"/>
          <p:cNvSpPr/>
          <p:nvPr/>
        </p:nvSpPr>
        <p:spPr>
          <a:xfrm>
            <a:off x="4251960" y="260604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Shape 13"/>
          <p:cNvSpPr/>
          <p:nvPr/>
        </p:nvSpPr>
        <p:spPr>
          <a:xfrm>
            <a:off x="5532120" y="31318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8" name="Image 2" descr="icons/w_camera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314700"/>
            <a:ext cx="502920" cy="50292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4526280" y="41376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감지 : 표지판 인식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8001000" y="2606040"/>
            <a:ext cx="3520440" cy="224028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2" name="Shape 17"/>
          <p:cNvSpPr/>
          <p:nvPr/>
        </p:nvSpPr>
        <p:spPr>
          <a:xfrm>
            <a:off x="9281160" y="3131820"/>
            <a:ext cx="868680" cy="868680"/>
          </a:xfrm>
          <a:prstGeom prst="roundRect">
            <a:avLst>
              <a:gd name="adj" fmla="val 10526"/>
            </a:avLst>
          </a:prstGeom>
          <a:solidFill>
            <a:srgbClr val="E74C6C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3" name="Image 3" descr="icons/w_ca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64040" y="3314700"/>
            <a:ext cx="502920" cy="50292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8275320" y="413766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개입 : 자동 제어</a:t>
            </a:r>
            <a:endParaRPr lang="en-US" sz="1600" dirty="0"/>
          </a:p>
        </p:txBody>
      </p:sp>
      <p:sp>
        <p:nvSpPr>
          <p:cNvPr id="26" name="Shape 20"/>
          <p:cNvSpPr/>
          <p:nvPr/>
        </p:nvSpPr>
        <p:spPr>
          <a:xfrm>
            <a:off x="502920" y="5074920"/>
            <a:ext cx="11155680" cy="1051560"/>
          </a:xfrm>
          <a:prstGeom prst="roundRect">
            <a:avLst>
              <a:gd name="adj" fmla="val 8696"/>
            </a:avLst>
          </a:prstGeom>
          <a:solidFill>
            <a:srgbClr val="E4E0FB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7" name="Text 21"/>
          <p:cNvSpPr/>
          <p:nvPr/>
        </p:nvSpPr>
        <p:spPr>
          <a:xfrm>
            <a:off x="822960" y="5074920"/>
            <a:ext cx="1051560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4A3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핵심 아이디어    </a:t>
            </a:r>
            <a:r>
              <a:rPr lang="en-US" sz="13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표지판의 </a:t>
            </a:r>
            <a:r>
              <a:rPr lang="en-US" sz="1350" b="1" dirty="0">
                <a:solidFill>
                  <a:srgbClr val="E74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 × 거리(박스 크기)</a:t>
            </a:r>
            <a:r>
              <a:rPr lang="en-US" sz="13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를 함께 보고 제어 개입 여부를 판단 → 충분히 가까워졌을 때만 개입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02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구조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980660"/>
            <a:ext cx="365760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502920" y="19806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4A3AB5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Shape 8"/>
          <p:cNvSpPr/>
          <p:nvPr/>
        </p:nvSpPr>
        <p:spPr>
          <a:xfrm>
            <a:off x="502920" y="2575020"/>
            <a:ext cx="3657600" cy="320040"/>
          </a:xfrm>
          <a:prstGeom prst="rect">
            <a:avLst/>
          </a:prstGeom>
          <a:solidFill>
            <a:srgbClr val="4A3AB5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0" descr="icons/w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2209260"/>
            <a:ext cx="457200" cy="4572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417320" y="21178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AI-G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435608" y="25110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추론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822960" y="3242532"/>
            <a:ext cx="118872" cy="118872"/>
          </a:xfrm>
          <a:prstGeom prst="ellipse">
            <a:avLst/>
          </a:prstGeom>
          <a:solidFill>
            <a:srgbClr val="4A3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2"/>
          <p:cNvSpPr/>
          <p:nvPr/>
        </p:nvSpPr>
        <p:spPr>
          <a:xfrm>
            <a:off x="1051560" y="30962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MIPI 카메라 입력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822960" y="3809460"/>
            <a:ext cx="118872" cy="118872"/>
          </a:xfrm>
          <a:prstGeom prst="ellipse">
            <a:avLst/>
          </a:prstGeom>
          <a:solidFill>
            <a:srgbClr val="4A3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7" name="Text 14"/>
          <p:cNvSpPr/>
          <p:nvPr/>
        </p:nvSpPr>
        <p:spPr>
          <a:xfrm>
            <a:off x="1051560" y="36631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YOLOv8s NPU 추론</a:t>
            </a:r>
            <a:endParaRPr lang="en-US" sz="1250" dirty="0"/>
          </a:p>
        </p:txBody>
      </p:sp>
      <p:sp>
        <p:nvSpPr>
          <p:cNvPr id="18" name="Shape 15"/>
          <p:cNvSpPr/>
          <p:nvPr/>
        </p:nvSpPr>
        <p:spPr>
          <a:xfrm>
            <a:off x="822960" y="4376388"/>
            <a:ext cx="118872" cy="118872"/>
          </a:xfrm>
          <a:prstGeom prst="ellipse">
            <a:avLst/>
          </a:prstGeom>
          <a:solidFill>
            <a:srgbClr val="4A3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6"/>
          <p:cNvSpPr/>
          <p:nvPr/>
        </p:nvSpPr>
        <p:spPr>
          <a:xfrm>
            <a:off x="1051560" y="42300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표지판 검출</a:t>
            </a:r>
            <a:endParaRPr lang="en-US" sz="1250" dirty="0"/>
          </a:p>
        </p:txBody>
      </p:sp>
      <p:sp>
        <p:nvSpPr>
          <p:cNvPr id="20" name="Shape 17"/>
          <p:cNvSpPr/>
          <p:nvPr/>
        </p:nvSpPr>
        <p:spPr>
          <a:xfrm>
            <a:off x="822960" y="4943316"/>
            <a:ext cx="118872" cy="118872"/>
          </a:xfrm>
          <a:prstGeom prst="ellipse">
            <a:avLst/>
          </a:prstGeom>
          <a:solidFill>
            <a:srgbClr val="4A3AB5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8"/>
          <p:cNvSpPr/>
          <p:nvPr/>
        </p:nvSpPr>
        <p:spPr>
          <a:xfrm>
            <a:off x="1051560" y="47970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송신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4251960" y="1980660"/>
            <a:ext cx="365760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20"/>
          <p:cNvSpPr/>
          <p:nvPr/>
        </p:nvSpPr>
        <p:spPr>
          <a:xfrm>
            <a:off x="4251960" y="19806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4" name="Shape 21"/>
          <p:cNvSpPr/>
          <p:nvPr/>
        </p:nvSpPr>
        <p:spPr>
          <a:xfrm>
            <a:off x="4251960" y="2575020"/>
            <a:ext cx="3657600" cy="3200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25" name="Image 1" descr="icons/w_bran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2209260"/>
            <a:ext cx="457200" cy="45720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5166360" y="21178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</a:t>
            </a:r>
            <a:endParaRPr lang="en-US" sz="2200" dirty="0"/>
          </a:p>
        </p:txBody>
      </p:sp>
      <p:sp>
        <p:nvSpPr>
          <p:cNvPr id="27" name="Text 23"/>
          <p:cNvSpPr/>
          <p:nvPr/>
        </p:nvSpPr>
        <p:spPr>
          <a:xfrm>
            <a:off x="5184648" y="25110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결정</a:t>
            </a:r>
            <a:endParaRPr lang="en-US" sz="1150" dirty="0"/>
          </a:p>
        </p:txBody>
      </p:sp>
      <p:sp>
        <p:nvSpPr>
          <p:cNvPr id="28" name="Shape 24"/>
          <p:cNvSpPr/>
          <p:nvPr/>
        </p:nvSpPr>
        <p:spPr>
          <a:xfrm>
            <a:off x="4572000" y="3242532"/>
            <a:ext cx="118872" cy="11887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5"/>
          <p:cNvSpPr/>
          <p:nvPr/>
        </p:nvSpPr>
        <p:spPr>
          <a:xfrm>
            <a:off x="4800600" y="30962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결과 수신</a:t>
            </a:r>
            <a:endParaRPr lang="en-US" sz="1250" dirty="0"/>
          </a:p>
        </p:txBody>
      </p:sp>
      <p:sp>
        <p:nvSpPr>
          <p:cNvPr id="30" name="Shape 26"/>
          <p:cNvSpPr/>
          <p:nvPr/>
        </p:nvSpPr>
        <p:spPr>
          <a:xfrm>
            <a:off x="4572000" y="3809460"/>
            <a:ext cx="118872" cy="11887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1" name="Text 27"/>
          <p:cNvSpPr/>
          <p:nvPr/>
        </p:nvSpPr>
        <p:spPr>
          <a:xfrm>
            <a:off x="4800600" y="36631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종류×거리 판정</a:t>
            </a:r>
            <a:endParaRPr lang="en-US" sz="1250" dirty="0"/>
          </a:p>
        </p:txBody>
      </p:sp>
      <p:sp>
        <p:nvSpPr>
          <p:cNvPr id="32" name="Shape 28"/>
          <p:cNvSpPr/>
          <p:nvPr/>
        </p:nvSpPr>
        <p:spPr>
          <a:xfrm>
            <a:off x="4572000" y="4376388"/>
            <a:ext cx="118872" cy="11887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9"/>
          <p:cNvSpPr/>
          <p:nvPr/>
        </p:nvSpPr>
        <p:spPr>
          <a:xfrm>
            <a:off x="4800600" y="42300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제어 명령 생성</a:t>
            </a:r>
            <a:endParaRPr lang="en-US" sz="1250" dirty="0"/>
          </a:p>
        </p:txBody>
      </p:sp>
      <p:sp>
        <p:nvSpPr>
          <p:cNvPr id="34" name="Shape 30"/>
          <p:cNvSpPr/>
          <p:nvPr/>
        </p:nvSpPr>
        <p:spPr>
          <a:xfrm>
            <a:off x="4572000" y="4943316"/>
            <a:ext cx="118872" cy="11887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1"/>
          <p:cNvSpPr/>
          <p:nvPr/>
        </p:nvSpPr>
        <p:spPr>
          <a:xfrm>
            <a:off x="4800600" y="47970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송신</a:t>
            </a:r>
            <a:endParaRPr lang="en-US" sz="1250" dirty="0"/>
          </a:p>
        </p:txBody>
      </p:sp>
      <p:sp>
        <p:nvSpPr>
          <p:cNvPr id="36" name="Shape 32"/>
          <p:cNvSpPr/>
          <p:nvPr/>
        </p:nvSpPr>
        <p:spPr>
          <a:xfrm>
            <a:off x="8001000" y="1980660"/>
            <a:ext cx="3657600" cy="3703320"/>
          </a:xfrm>
          <a:prstGeom prst="roundRect">
            <a:avLst>
              <a:gd name="adj" fmla="val 25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3"/>
          <p:cNvSpPr/>
          <p:nvPr/>
        </p:nvSpPr>
        <p:spPr>
          <a:xfrm>
            <a:off x="8001000" y="1980660"/>
            <a:ext cx="3657600" cy="914400"/>
          </a:xfrm>
          <a:prstGeom prst="roundRect">
            <a:avLst>
              <a:gd name="adj" fmla="val 10000"/>
            </a:avLst>
          </a:prstGeom>
          <a:solidFill>
            <a:srgbClr val="E74C6C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Shape 34"/>
          <p:cNvSpPr/>
          <p:nvPr/>
        </p:nvSpPr>
        <p:spPr>
          <a:xfrm>
            <a:off x="8001000" y="2575020"/>
            <a:ext cx="3657600" cy="320040"/>
          </a:xfrm>
          <a:prstGeom prst="rect">
            <a:avLst/>
          </a:prstGeom>
          <a:solidFill>
            <a:srgbClr val="E74C6C"/>
          </a:solidFill>
          <a:ln/>
        </p:spPr>
        <p:txBody>
          <a:bodyPr/>
          <a:lstStyle/>
          <a:p>
            <a:endParaRPr lang="ko-KR" altLang="en-US"/>
          </a:p>
        </p:txBody>
      </p:sp>
      <p:pic>
        <p:nvPicPr>
          <p:cNvPr id="39" name="Image 2" descr="icons/w_ca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21040" y="2209260"/>
            <a:ext cx="457200" cy="457200"/>
          </a:xfrm>
          <a:prstGeom prst="rect">
            <a:avLst/>
          </a:prstGeom>
        </p:spPr>
      </p:pic>
      <p:sp>
        <p:nvSpPr>
          <p:cNvPr id="40" name="Text 35"/>
          <p:cNvSpPr/>
          <p:nvPr/>
        </p:nvSpPr>
        <p:spPr>
          <a:xfrm>
            <a:off x="8915400" y="211782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VCP-G</a:t>
            </a:r>
            <a:endParaRPr lang="en-US" sz="2200" dirty="0"/>
          </a:p>
        </p:txBody>
      </p:sp>
      <p:sp>
        <p:nvSpPr>
          <p:cNvPr id="41" name="Text 36"/>
          <p:cNvSpPr/>
          <p:nvPr/>
        </p:nvSpPr>
        <p:spPr>
          <a:xfrm>
            <a:off x="8933688" y="251101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1150" i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</a:rPr>
              <a:t>동작</a:t>
            </a:r>
            <a:endParaRPr lang="en-US" sz="1150" dirty="0"/>
          </a:p>
        </p:txBody>
      </p:sp>
      <p:sp>
        <p:nvSpPr>
          <p:cNvPr id="42" name="Shape 37"/>
          <p:cNvSpPr/>
          <p:nvPr/>
        </p:nvSpPr>
        <p:spPr>
          <a:xfrm>
            <a:off x="8321040" y="3242532"/>
            <a:ext cx="118872" cy="118872"/>
          </a:xfrm>
          <a:prstGeom prst="ellipse">
            <a:avLst/>
          </a:prstGeom>
          <a:solidFill>
            <a:srgbClr val="E74C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3" name="Text 38"/>
          <p:cNvSpPr/>
          <p:nvPr/>
        </p:nvSpPr>
        <p:spPr>
          <a:xfrm>
            <a:off x="8549640" y="3096228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명령 수신</a:t>
            </a:r>
            <a:endParaRPr lang="en-US" sz="1250" dirty="0"/>
          </a:p>
        </p:txBody>
      </p:sp>
      <p:sp>
        <p:nvSpPr>
          <p:cNvPr id="44" name="Shape 39"/>
          <p:cNvSpPr/>
          <p:nvPr/>
        </p:nvSpPr>
        <p:spPr>
          <a:xfrm>
            <a:off x="8321040" y="3809460"/>
            <a:ext cx="118872" cy="118872"/>
          </a:xfrm>
          <a:prstGeom prst="ellipse">
            <a:avLst/>
          </a:prstGeom>
          <a:solidFill>
            <a:srgbClr val="E74C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5" name="Text 40"/>
          <p:cNvSpPr/>
          <p:nvPr/>
        </p:nvSpPr>
        <p:spPr>
          <a:xfrm>
            <a:off x="8549640" y="3663156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조이스틱 override</a:t>
            </a:r>
            <a:endParaRPr lang="en-US" sz="1250" dirty="0"/>
          </a:p>
        </p:txBody>
      </p:sp>
      <p:sp>
        <p:nvSpPr>
          <p:cNvPr id="46" name="Shape 41"/>
          <p:cNvSpPr/>
          <p:nvPr/>
        </p:nvSpPr>
        <p:spPr>
          <a:xfrm>
            <a:off x="8321040" y="4376388"/>
            <a:ext cx="118872" cy="118872"/>
          </a:xfrm>
          <a:prstGeom prst="ellipse">
            <a:avLst/>
          </a:prstGeom>
          <a:solidFill>
            <a:srgbClr val="E74C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2"/>
          <p:cNvSpPr/>
          <p:nvPr/>
        </p:nvSpPr>
        <p:spPr>
          <a:xfrm>
            <a:off x="8549640" y="423008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모터·서보 구동</a:t>
            </a:r>
            <a:endParaRPr lang="en-US" sz="1250" dirty="0"/>
          </a:p>
        </p:txBody>
      </p:sp>
      <p:sp>
        <p:nvSpPr>
          <p:cNvPr id="48" name="Shape 43"/>
          <p:cNvSpPr/>
          <p:nvPr/>
        </p:nvSpPr>
        <p:spPr>
          <a:xfrm>
            <a:off x="8321040" y="4943316"/>
            <a:ext cx="118872" cy="118872"/>
          </a:xfrm>
          <a:prstGeom prst="ellipse">
            <a:avLst/>
          </a:prstGeom>
          <a:solidFill>
            <a:srgbClr val="E74C6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49" name="Text 44"/>
          <p:cNvSpPr/>
          <p:nvPr/>
        </p:nvSpPr>
        <p:spPr>
          <a:xfrm>
            <a:off x="8549640" y="479701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정지·속도제한</a:t>
            </a:r>
            <a:endParaRPr lang="en-US" sz="1250" dirty="0"/>
          </a:p>
        </p:txBody>
      </p:sp>
      <p:sp>
        <p:nvSpPr>
          <p:cNvPr id="50" name="Shape 45"/>
          <p:cNvSpPr/>
          <p:nvPr/>
        </p:nvSpPr>
        <p:spPr>
          <a:xfrm>
            <a:off x="3870961" y="3759168"/>
            <a:ext cx="594360" cy="502920"/>
          </a:xfrm>
          <a:prstGeom prst="roundRect">
            <a:avLst>
              <a:gd name="adj" fmla="val 10909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1" name="Text 46"/>
          <p:cNvSpPr/>
          <p:nvPr/>
        </p:nvSpPr>
        <p:spPr>
          <a:xfrm>
            <a:off x="3870961" y="37225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52" name="Text 47"/>
          <p:cNvSpPr/>
          <p:nvPr/>
        </p:nvSpPr>
        <p:spPr>
          <a:xfrm>
            <a:off x="3288946" y="38871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4A3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</a:t>
            </a:r>
            <a:endParaRPr lang="en-US" sz="1050" dirty="0"/>
          </a:p>
        </p:txBody>
      </p:sp>
      <p:sp>
        <p:nvSpPr>
          <p:cNvPr id="53" name="Shape 48"/>
          <p:cNvSpPr/>
          <p:nvPr/>
        </p:nvSpPr>
        <p:spPr>
          <a:xfrm>
            <a:off x="7620001" y="3759168"/>
            <a:ext cx="594360" cy="502920"/>
          </a:xfrm>
          <a:prstGeom prst="roundRect">
            <a:avLst>
              <a:gd name="adj" fmla="val 10909"/>
            </a:avLst>
          </a:prstGeom>
          <a:solidFill>
            <a:srgbClr val="E74C6C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4" name="Text 49"/>
          <p:cNvSpPr/>
          <p:nvPr/>
        </p:nvSpPr>
        <p:spPr>
          <a:xfrm>
            <a:off x="7620001" y="3722592"/>
            <a:ext cx="594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55" name="Text 50"/>
          <p:cNvSpPr/>
          <p:nvPr/>
        </p:nvSpPr>
        <p:spPr>
          <a:xfrm>
            <a:off x="7037986" y="3887184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E74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인식 대상 &amp; 판정 규칙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17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1344168" y="1714500"/>
            <a:ext cx="914400" cy="9144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4C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icons/p_sto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63624" y="1933956"/>
            <a:ext cx="475488" cy="475488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640080" y="27203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914400" y="32461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74C6C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Text 11"/>
          <p:cNvSpPr/>
          <p:nvPr/>
        </p:nvSpPr>
        <p:spPr>
          <a:xfrm>
            <a:off x="914400" y="32461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정지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319272" y="1417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160520" y="1714500"/>
            <a:ext cx="914400" cy="9144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E74C6C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icons/p_ba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9976" y="1933956"/>
            <a:ext cx="475488" cy="475488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56432" y="27203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진입금지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3730752" y="32461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E74C6C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Text 17"/>
          <p:cNvSpPr/>
          <p:nvPr/>
        </p:nvSpPr>
        <p:spPr>
          <a:xfrm>
            <a:off x="3730752" y="32461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무조건 정지</a:t>
            </a:r>
            <a:endParaRPr lang="en-US" sz="1050" dirty="0"/>
          </a:p>
        </p:txBody>
      </p:sp>
      <p:sp>
        <p:nvSpPr>
          <p:cNvPr id="22" name="Shape 18"/>
          <p:cNvSpPr/>
          <p:nvPr/>
        </p:nvSpPr>
        <p:spPr>
          <a:xfrm>
            <a:off x="6135624" y="1417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6976872" y="1714500"/>
            <a:ext cx="914400" cy="9144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icons/p_sp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6328" y="1933956"/>
            <a:ext cx="475488" cy="475488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272784" y="27203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 60</a:t>
            </a:r>
            <a:endParaRPr lang="en-US" sz="1700" dirty="0"/>
          </a:p>
        </p:txBody>
      </p:sp>
      <p:sp>
        <p:nvSpPr>
          <p:cNvPr id="27" name="Shape 22"/>
          <p:cNvSpPr/>
          <p:nvPr/>
        </p:nvSpPr>
        <p:spPr>
          <a:xfrm>
            <a:off x="6547104" y="32461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8" name="Text 23"/>
          <p:cNvSpPr/>
          <p:nvPr/>
        </p:nvSpPr>
        <p:spPr>
          <a:xfrm>
            <a:off x="6547104" y="32461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60 초과 시</a:t>
            </a:r>
            <a:endParaRPr lang="en-US" sz="1050" dirty="0"/>
          </a:p>
        </p:txBody>
      </p:sp>
      <p:sp>
        <p:nvSpPr>
          <p:cNvPr id="29" name="Shape 24"/>
          <p:cNvSpPr/>
          <p:nvPr/>
        </p:nvSpPr>
        <p:spPr>
          <a:xfrm>
            <a:off x="8951976" y="1417320"/>
            <a:ext cx="2606040" cy="2194560"/>
          </a:xfrm>
          <a:prstGeom prst="roundRect">
            <a:avLst>
              <a:gd name="adj" fmla="val 416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9793224" y="1714500"/>
            <a:ext cx="914400" cy="914400"/>
          </a:xfrm>
          <a:prstGeom prst="ellipse">
            <a:avLst/>
          </a:prstGeom>
          <a:solidFill>
            <a:srgbClr val="FFFFFF"/>
          </a:solidFill>
          <a:ln w="5080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icons/p_spe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012680" y="1933956"/>
            <a:ext cx="475488" cy="475488"/>
          </a:xfrm>
          <a:prstGeom prst="rect">
            <a:avLst/>
          </a:prstGeom>
        </p:spPr>
      </p:pic>
      <p:sp>
        <p:nvSpPr>
          <p:cNvPr id="32" name="Text 26"/>
          <p:cNvSpPr/>
          <p:nvPr/>
        </p:nvSpPr>
        <p:spPr>
          <a:xfrm>
            <a:off x="9089136" y="27203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속도제한 30</a:t>
            </a:r>
            <a:endParaRPr lang="en-US" sz="1700" dirty="0"/>
          </a:p>
        </p:txBody>
      </p:sp>
      <p:sp>
        <p:nvSpPr>
          <p:cNvPr id="34" name="Shape 28"/>
          <p:cNvSpPr/>
          <p:nvPr/>
        </p:nvSpPr>
        <p:spPr>
          <a:xfrm>
            <a:off x="9363456" y="3246120"/>
            <a:ext cx="1783080" cy="292608"/>
          </a:xfrm>
          <a:prstGeom prst="roundRect">
            <a:avLst>
              <a:gd name="adj" fmla="val 50000"/>
            </a:avLst>
          </a:prstGeom>
          <a:solidFill>
            <a:srgbClr val="6C5CE7"/>
          </a:solidFill>
          <a:ln w="1270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29"/>
          <p:cNvSpPr/>
          <p:nvPr/>
        </p:nvSpPr>
        <p:spPr>
          <a:xfrm>
            <a:off x="9363456" y="3246120"/>
            <a:ext cx="17830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 초과 시</a:t>
            </a:r>
            <a:endParaRPr lang="en-US" sz="1050" dirty="0"/>
          </a:p>
        </p:txBody>
      </p:sp>
      <p:sp>
        <p:nvSpPr>
          <p:cNvPr id="36" name="Shape 30"/>
          <p:cNvSpPr/>
          <p:nvPr/>
        </p:nvSpPr>
        <p:spPr>
          <a:xfrm>
            <a:off x="502920" y="3886200"/>
            <a:ext cx="11155680" cy="2240280"/>
          </a:xfrm>
          <a:prstGeom prst="roundRect">
            <a:avLst>
              <a:gd name="adj" fmla="val 4082"/>
            </a:avLst>
          </a:prstGeom>
          <a:solidFill>
            <a:srgbClr val="E4E0FB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777240" y="4114800"/>
            <a:ext cx="2743200" cy="502920"/>
          </a:xfrm>
          <a:prstGeom prst="roundRect">
            <a:avLst>
              <a:gd name="adj" fmla="val 10909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2"/>
          <p:cNvSpPr/>
          <p:nvPr/>
        </p:nvSpPr>
        <p:spPr>
          <a:xfrm>
            <a:off x="777240" y="4114800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판정 로직 (D3-G)</a:t>
            </a:r>
            <a:endParaRPr lang="en-US" sz="1400" dirty="0"/>
          </a:p>
        </p:txBody>
      </p:sp>
      <p:sp>
        <p:nvSpPr>
          <p:cNvPr id="39" name="Shape 33"/>
          <p:cNvSpPr/>
          <p:nvPr/>
        </p:nvSpPr>
        <p:spPr>
          <a:xfrm>
            <a:off x="868680" y="480060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Shape 34"/>
          <p:cNvSpPr/>
          <p:nvPr/>
        </p:nvSpPr>
        <p:spPr>
          <a:xfrm>
            <a:off x="1051560" y="5029200"/>
            <a:ext cx="566928" cy="566928"/>
          </a:xfrm>
          <a:prstGeom prst="ellipse">
            <a:avLst/>
          </a:prstGeom>
          <a:solidFill>
            <a:srgbClr val="E4E0FB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1" name="Image 4" descr="icons/p_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97864" y="5175504"/>
            <a:ext cx="274320" cy="274320"/>
          </a:xfrm>
          <a:prstGeom prst="rect">
            <a:avLst/>
          </a:prstGeom>
        </p:spPr>
      </p:pic>
      <p:sp>
        <p:nvSpPr>
          <p:cNvPr id="42" name="Text 35"/>
          <p:cNvSpPr/>
          <p:nvPr/>
        </p:nvSpPr>
        <p:spPr>
          <a:xfrm>
            <a:off x="1737360" y="4956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신뢰도 필터</a:t>
            </a:r>
            <a:endParaRPr lang="en-US" sz="1350" dirty="0"/>
          </a:p>
        </p:txBody>
      </p:sp>
      <p:sp>
        <p:nvSpPr>
          <p:cNvPr id="43" name="Text 36"/>
          <p:cNvSpPr/>
          <p:nvPr/>
        </p:nvSpPr>
        <p:spPr>
          <a:xfrm>
            <a:off x="1737360" y="52669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score ≥ 0.5 검출만 유효</a:t>
            </a:r>
            <a:endParaRPr lang="en-US" sz="1100" dirty="0"/>
          </a:p>
        </p:txBody>
      </p:sp>
      <p:sp>
        <p:nvSpPr>
          <p:cNvPr id="44" name="Shape 37"/>
          <p:cNvSpPr/>
          <p:nvPr/>
        </p:nvSpPr>
        <p:spPr>
          <a:xfrm>
            <a:off x="4526280" y="480060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5" name="Shape 38"/>
          <p:cNvSpPr/>
          <p:nvPr/>
        </p:nvSpPr>
        <p:spPr>
          <a:xfrm>
            <a:off x="4709160" y="5029200"/>
            <a:ext cx="566928" cy="566928"/>
          </a:xfrm>
          <a:prstGeom prst="ellipse">
            <a:avLst/>
          </a:prstGeom>
          <a:solidFill>
            <a:srgbClr val="E4E0FB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6" name="Image 5" descr="icons/p_roa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55464" y="5175504"/>
            <a:ext cx="274320" cy="274320"/>
          </a:xfrm>
          <a:prstGeom prst="rect">
            <a:avLst/>
          </a:prstGeom>
        </p:spPr>
      </p:pic>
      <p:sp>
        <p:nvSpPr>
          <p:cNvPr id="47" name="Text 39"/>
          <p:cNvSpPr/>
          <p:nvPr/>
        </p:nvSpPr>
        <p:spPr>
          <a:xfrm>
            <a:off x="5394960" y="4956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거리 판단</a:t>
            </a:r>
            <a:endParaRPr lang="en-US" sz="1350" dirty="0"/>
          </a:p>
        </p:txBody>
      </p:sp>
      <p:sp>
        <p:nvSpPr>
          <p:cNvPr id="48" name="Text 40"/>
          <p:cNvSpPr/>
          <p:nvPr/>
        </p:nvSpPr>
        <p:spPr>
          <a:xfrm>
            <a:off x="5394960" y="52669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bbox_h ≥ 임계값일 때만 개입</a:t>
            </a:r>
            <a:endParaRPr lang="en-US" sz="1100" dirty="0"/>
          </a:p>
        </p:txBody>
      </p:sp>
      <p:sp>
        <p:nvSpPr>
          <p:cNvPr id="49" name="Shape 41"/>
          <p:cNvSpPr/>
          <p:nvPr/>
        </p:nvSpPr>
        <p:spPr>
          <a:xfrm>
            <a:off x="8183880" y="4800600"/>
            <a:ext cx="3337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0" name="Shape 42"/>
          <p:cNvSpPr/>
          <p:nvPr/>
        </p:nvSpPr>
        <p:spPr>
          <a:xfrm>
            <a:off x="8366760" y="5029200"/>
            <a:ext cx="566928" cy="566928"/>
          </a:xfrm>
          <a:prstGeom prst="ellipse">
            <a:avLst/>
          </a:prstGeom>
          <a:solidFill>
            <a:srgbClr val="E4E0FB"/>
          </a:solidFill>
          <a:ln w="19050">
            <a:solidFill>
              <a:srgbClr val="6C5CE7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51" name="Image 6" descr="icons/p_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13064" y="5175504"/>
            <a:ext cx="274320" cy="274320"/>
          </a:xfrm>
          <a:prstGeom prst="rect">
            <a:avLst/>
          </a:prstGeom>
        </p:spPr>
      </p:pic>
      <p:sp>
        <p:nvSpPr>
          <p:cNvPr id="52" name="Text 43"/>
          <p:cNvSpPr/>
          <p:nvPr/>
        </p:nvSpPr>
        <p:spPr>
          <a:xfrm>
            <a:off x="9052560" y="4956048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깜빡임 방지</a:t>
            </a:r>
            <a:endParaRPr lang="en-US" sz="1350" dirty="0"/>
          </a:p>
        </p:txBody>
      </p:sp>
      <p:sp>
        <p:nvSpPr>
          <p:cNvPr id="53" name="Text 44"/>
          <p:cNvSpPr/>
          <p:nvPr/>
        </p:nvSpPr>
        <p:spPr>
          <a:xfrm>
            <a:off x="9052560" y="5266944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2프레임 연속 시 명령 확정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B0A9CA8-414C-9D21-D86E-ECCD32B7A165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3337DF68-6ABF-E2BA-0B79-9B5BEDB889E3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03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74A4550B-4EB5-24C2-D147-C0851376F082}"/>
              </a:ext>
            </a:extLst>
          </p:cNvPr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72DBB313-55D2-ABAE-A2D5-746D2C64788E}"/>
              </a:ext>
            </a:extLst>
          </p:cNvPr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트랙 환경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CB00D44-50ED-3763-FAE0-41BD0EDF23B5}"/>
              </a:ext>
            </a:extLst>
          </p:cNvPr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89DF9577-B256-7005-9C79-201CC4987A44}"/>
              </a:ext>
            </a:extLst>
          </p:cNvPr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0">
            <a:extLst>
              <a:ext uri="{FF2B5EF4-FFF2-40B4-BE49-F238E27FC236}">
                <a16:creationId xmlns:a16="http://schemas.microsoft.com/office/drawing/2014/main" id="{BB939D84-117C-2960-6705-7B4FB35538C3}"/>
              </a:ext>
            </a:extLst>
          </p:cNvPr>
          <p:cNvSpPr/>
          <p:nvPr/>
        </p:nvSpPr>
        <p:spPr>
          <a:xfrm>
            <a:off x="502920" y="1280160"/>
            <a:ext cx="11155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1" name="Image 7" descr="track_imgs/track_30_sm.jpg">
            <a:extLst>
              <a:ext uri="{FF2B5EF4-FFF2-40B4-BE49-F238E27FC236}">
                <a16:creationId xmlns:a16="http://schemas.microsoft.com/office/drawing/2014/main" id="{3D10163D-31E6-A993-9C4B-08839C94D06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731520" y="1858112"/>
            <a:ext cx="5242560" cy="3216808"/>
          </a:xfrm>
          <a:prstGeom prst="rect">
            <a:avLst/>
          </a:prstGeom>
        </p:spPr>
      </p:pic>
      <p:pic>
        <p:nvPicPr>
          <p:cNvPr id="13" name="Image 8" descr="track_imgs/track_noentry_sm.jpg">
            <a:extLst>
              <a:ext uri="{FF2B5EF4-FFF2-40B4-BE49-F238E27FC236}">
                <a16:creationId xmlns:a16="http://schemas.microsoft.com/office/drawing/2014/main" id="{7D02F534-E914-C128-6C29-BA398DC16F9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210300" y="1858112"/>
            <a:ext cx="5242560" cy="3216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310447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모델 : 학습 → NPU 변환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icons/p_d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0020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371600" y="160020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 · 모델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2194560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데이터셋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2194560" y="2194560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Roboflow 표지판 6,119장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777240" y="2532888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2194560" y="2532888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YOLOv8s (Object Detection)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77240" y="2871216"/>
            <a:ext cx="1371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클래스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2194560" y="2871216"/>
            <a:ext cx="3657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4종 + 더미 4 (NPU 정렬)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6172200" y="1371600"/>
            <a:ext cx="5486400" cy="1874520"/>
          </a:xfrm>
          <a:prstGeom prst="roundRect">
            <a:avLst>
              <a:gd name="adj" fmla="val 4878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8" name="Text 15"/>
          <p:cNvSpPr/>
          <p:nvPr/>
        </p:nvSpPr>
        <p:spPr>
          <a:xfrm>
            <a:off x="6446520" y="1773936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정확도 mAP50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6400800" y="2002536"/>
            <a:ext cx="2286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54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0.97</a:t>
            </a:r>
            <a:endParaRPr lang="en-US" sz="5400" dirty="0"/>
          </a:p>
        </p:txBody>
      </p:sp>
      <p:sp>
        <p:nvSpPr>
          <p:cNvPr id="20" name="Text 17"/>
          <p:cNvSpPr/>
          <p:nvPr/>
        </p:nvSpPr>
        <p:spPr>
          <a:xfrm>
            <a:off x="8869680" y="1770001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Stop</a:t>
            </a:r>
            <a:endParaRPr lang="en-US" sz="1150" dirty="0"/>
          </a:p>
        </p:txBody>
      </p:sp>
      <p:sp>
        <p:nvSpPr>
          <p:cNvPr id="21" name="Text 18"/>
          <p:cNvSpPr/>
          <p:nvPr/>
        </p:nvSpPr>
        <p:spPr>
          <a:xfrm>
            <a:off x="10515600" y="1770001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E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0.99</a:t>
            </a:r>
            <a:endParaRPr lang="en-US" sz="1150" dirty="0"/>
          </a:p>
        </p:txBody>
      </p:sp>
      <p:sp>
        <p:nvSpPr>
          <p:cNvPr id="22" name="Text 19"/>
          <p:cNvSpPr/>
          <p:nvPr/>
        </p:nvSpPr>
        <p:spPr>
          <a:xfrm>
            <a:off x="8869680" y="2062609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 Entry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10515600" y="2062609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E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0.98</a:t>
            </a:r>
            <a:endParaRPr lang="en-US" sz="1150" dirty="0"/>
          </a:p>
        </p:txBody>
      </p:sp>
      <p:sp>
        <p:nvSpPr>
          <p:cNvPr id="24" name="Text 21"/>
          <p:cNvSpPr/>
          <p:nvPr/>
        </p:nvSpPr>
        <p:spPr>
          <a:xfrm>
            <a:off x="8869680" y="2355217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Speed 60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10515600" y="2355217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E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0.98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8869680" y="2647825"/>
            <a:ext cx="16459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Speed 30</a:t>
            </a:r>
            <a:endParaRPr lang="en-US" sz="1150" dirty="0"/>
          </a:p>
        </p:txBody>
      </p:sp>
      <p:sp>
        <p:nvSpPr>
          <p:cNvPr id="27" name="Text 24"/>
          <p:cNvSpPr/>
          <p:nvPr/>
        </p:nvSpPr>
        <p:spPr>
          <a:xfrm>
            <a:off x="10515600" y="2647825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50" b="1" dirty="0">
                <a:solidFill>
                  <a:srgbClr val="FFE08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0.93</a:t>
            </a:r>
            <a:endParaRPr lang="en-US" sz="1150" dirty="0"/>
          </a:p>
        </p:txBody>
      </p:sp>
      <p:sp>
        <p:nvSpPr>
          <p:cNvPr id="28" name="Shape 25"/>
          <p:cNvSpPr/>
          <p:nvPr/>
        </p:nvSpPr>
        <p:spPr>
          <a:xfrm>
            <a:off x="502920" y="3429000"/>
            <a:ext cx="11155680" cy="269748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9" name="Shape 26"/>
          <p:cNvSpPr/>
          <p:nvPr/>
        </p:nvSpPr>
        <p:spPr>
          <a:xfrm>
            <a:off x="777240" y="3877056"/>
            <a:ext cx="3200400" cy="502920"/>
          </a:xfrm>
          <a:prstGeom prst="roundRect">
            <a:avLst>
              <a:gd name="adj" fmla="val 10909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Text 27"/>
          <p:cNvSpPr/>
          <p:nvPr/>
        </p:nvSpPr>
        <p:spPr>
          <a:xfrm>
            <a:off x="777240" y="3877056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 → 배포 파이프라인</a:t>
            </a:r>
            <a:endParaRPr lang="en-US" sz="1350" dirty="0"/>
          </a:p>
        </p:txBody>
      </p:sp>
      <p:sp>
        <p:nvSpPr>
          <p:cNvPr id="31" name="Shape 28"/>
          <p:cNvSpPr/>
          <p:nvPr/>
        </p:nvSpPr>
        <p:spPr>
          <a:xfrm>
            <a:off x="777240" y="4608576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9"/>
          <p:cNvSpPr/>
          <p:nvPr/>
        </p:nvSpPr>
        <p:spPr>
          <a:xfrm>
            <a:off x="777240" y="4608576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YOLOv8s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2240280" y="4608576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34" name="Shape 31"/>
          <p:cNvSpPr/>
          <p:nvPr/>
        </p:nvSpPr>
        <p:spPr>
          <a:xfrm>
            <a:off x="2587752" y="4608576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4E0FB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2"/>
          <p:cNvSpPr/>
          <p:nvPr/>
        </p:nvSpPr>
        <p:spPr>
          <a:xfrm>
            <a:off x="2587752" y="4608576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ONNX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Export</a:t>
            </a:r>
            <a:endParaRPr lang="en-US" sz="1200" dirty="0"/>
          </a:p>
        </p:txBody>
      </p:sp>
      <p:sp>
        <p:nvSpPr>
          <p:cNvPr id="36" name="Text 33"/>
          <p:cNvSpPr/>
          <p:nvPr/>
        </p:nvSpPr>
        <p:spPr>
          <a:xfrm>
            <a:off x="4050792" y="4608576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37" name="Shape 34"/>
          <p:cNvSpPr/>
          <p:nvPr/>
        </p:nvSpPr>
        <p:spPr>
          <a:xfrm>
            <a:off x="4398264" y="4608576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4E0FB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8" name="Text 35"/>
          <p:cNvSpPr/>
          <p:nvPr/>
        </p:nvSpPr>
        <p:spPr>
          <a:xfrm>
            <a:off x="4398264" y="4608576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Enlight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</a:t>
            </a:r>
            <a:endParaRPr lang="en-US" sz="1200" dirty="0"/>
          </a:p>
        </p:txBody>
      </p:sp>
      <p:sp>
        <p:nvSpPr>
          <p:cNvPr id="39" name="Text 36"/>
          <p:cNvSpPr/>
          <p:nvPr/>
        </p:nvSpPr>
        <p:spPr>
          <a:xfrm>
            <a:off x="5861304" y="4608576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40" name="Shape 37"/>
          <p:cNvSpPr/>
          <p:nvPr/>
        </p:nvSpPr>
        <p:spPr>
          <a:xfrm>
            <a:off x="6208776" y="4608576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4E0FB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1" name="Text 38"/>
          <p:cNvSpPr/>
          <p:nvPr/>
        </p:nvSpPr>
        <p:spPr>
          <a:xfrm>
            <a:off x="6208776" y="4608576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INT8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양자화</a:t>
            </a:r>
            <a:endParaRPr lang="en-US" sz="1200" dirty="0"/>
          </a:p>
        </p:txBody>
      </p:sp>
      <p:sp>
        <p:nvSpPr>
          <p:cNvPr id="42" name="Text 39"/>
          <p:cNvSpPr/>
          <p:nvPr/>
        </p:nvSpPr>
        <p:spPr>
          <a:xfrm>
            <a:off x="7671816" y="4608576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43" name="Shape 40"/>
          <p:cNvSpPr/>
          <p:nvPr/>
        </p:nvSpPr>
        <p:spPr>
          <a:xfrm>
            <a:off x="8019288" y="4608576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4E0FB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Text 41"/>
          <p:cNvSpPr/>
          <p:nvPr/>
        </p:nvSpPr>
        <p:spPr>
          <a:xfrm>
            <a:off x="8019288" y="4608576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NPU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컴파일</a:t>
            </a:r>
            <a:endParaRPr lang="en-US" sz="1200" dirty="0"/>
          </a:p>
        </p:txBody>
      </p:sp>
      <p:sp>
        <p:nvSpPr>
          <p:cNvPr id="45" name="Text 42"/>
          <p:cNvSpPr/>
          <p:nvPr/>
        </p:nvSpPr>
        <p:spPr>
          <a:xfrm>
            <a:off x="9482328" y="4608576"/>
            <a:ext cx="36576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1800" dirty="0"/>
          </a:p>
        </p:txBody>
      </p:sp>
      <p:sp>
        <p:nvSpPr>
          <p:cNvPr id="46" name="Shape 43"/>
          <p:cNvSpPr/>
          <p:nvPr/>
        </p:nvSpPr>
        <p:spPr>
          <a:xfrm>
            <a:off x="9829800" y="4608576"/>
            <a:ext cx="1481328" cy="914400"/>
          </a:xfrm>
          <a:prstGeom prst="roundRect">
            <a:avLst>
              <a:gd name="adj" fmla="val 8000"/>
            </a:avLst>
          </a:prstGeom>
          <a:solidFill>
            <a:srgbClr val="E74C6C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44"/>
          <p:cNvSpPr/>
          <p:nvPr/>
        </p:nvSpPr>
        <p:spPr>
          <a:xfrm>
            <a:off x="9829800" y="4608576"/>
            <a:ext cx="148132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AI-G</a:t>
            </a:r>
            <a:endParaRPr lang="en-US" sz="1200" dirty="0"/>
          </a:p>
          <a:p>
            <a:pPr marL="0" indent="0" algn="ctr">
              <a:lnSpc>
                <a:spcPts val="14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탑재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Shape 0">
            <a:extLst>
              <a:ext uri="{FF2B5EF4-FFF2-40B4-BE49-F238E27FC236}">
                <a16:creationId xmlns:a16="http://schemas.microsoft.com/office/drawing/2014/main" id="{D629E64A-9BB5-A8AB-8B0E-CC09FDB329CF}"/>
              </a:ext>
            </a:extLst>
          </p:cNvPr>
          <p:cNvSpPr/>
          <p:nvPr/>
        </p:nvSpPr>
        <p:spPr>
          <a:xfrm>
            <a:off x="502920" y="50167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">
            <a:extLst>
              <a:ext uri="{FF2B5EF4-FFF2-40B4-BE49-F238E27FC236}">
                <a16:creationId xmlns:a16="http://schemas.microsoft.com/office/drawing/2014/main" id="{EEB82E3E-6D99-B0B9-1C8E-B1AEF7BF303A}"/>
              </a:ext>
            </a:extLst>
          </p:cNvPr>
          <p:cNvSpPr/>
          <p:nvPr/>
        </p:nvSpPr>
        <p:spPr>
          <a:xfrm>
            <a:off x="502920" y="50167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04</a:t>
            </a:r>
            <a:endParaRPr lang="en-US" sz="2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B051885F-4B1C-0AD9-D593-0D2C996DA23F}"/>
              </a:ext>
            </a:extLst>
          </p:cNvPr>
          <p:cNvSpPr/>
          <p:nvPr/>
        </p:nvSpPr>
        <p:spPr>
          <a:xfrm>
            <a:off x="1554480" y="50167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7" name="Text 3">
            <a:extLst>
              <a:ext uri="{FF2B5EF4-FFF2-40B4-BE49-F238E27FC236}">
                <a16:creationId xmlns:a16="http://schemas.microsoft.com/office/drawing/2014/main" id="{97E6C96F-6943-087E-4533-5E93A85CFF27}"/>
              </a:ext>
            </a:extLst>
          </p:cNvPr>
          <p:cNvSpPr/>
          <p:nvPr/>
        </p:nvSpPr>
        <p:spPr>
          <a:xfrm>
            <a:off x="1783080" y="50167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 </a:t>
            </a:r>
            <a:r>
              <a:rPr lang="en-US" sz="2200" b="1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</a:t>
            </a: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: </a:t>
            </a:r>
            <a:r>
              <a:rPr lang="en-US" sz="2200" b="1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학습</a:t>
            </a: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→ NPU </a:t>
            </a:r>
            <a:r>
              <a:rPr lang="en-US" sz="2200" b="1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변환</a:t>
            </a:r>
            <a:endParaRPr lang="en-US" sz="2200" dirty="0"/>
          </a:p>
        </p:txBody>
      </p:sp>
      <p:sp>
        <p:nvSpPr>
          <p:cNvPr id="18" name="Shape 4">
            <a:extLst>
              <a:ext uri="{FF2B5EF4-FFF2-40B4-BE49-F238E27FC236}">
                <a16:creationId xmlns:a16="http://schemas.microsoft.com/office/drawing/2014/main" id="{6589B148-855C-3482-8B0A-A4D8AF22FB1A}"/>
              </a:ext>
            </a:extLst>
          </p:cNvPr>
          <p:cNvSpPr/>
          <p:nvPr/>
        </p:nvSpPr>
        <p:spPr>
          <a:xfrm>
            <a:off x="10424160" y="50167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5">
            <a:extLst>
              <a:ext uri="{FF2B5EF4-FFF2-40B4-BE49-F238E27FC236}">
                <a16:creationId xmlns:a16="http://schemas.microsoft.com/office/drawing/2014/main" id="{02B4AAEE-B7FC-0078-B8EA-14C921E38A0E}"/>
              </a:ext>
            </a:extLst>
          </p:cNvPr>
          <p:cNvSpPr/>
          <p:nvPr/>
        </p:nvSpPr>
        <p:spPr>
          <a:xfrm>
            <a:off x="10424160" y="46509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20" name="Shape 6">
            <a:extLst>
              <a:ext uri="{FF2B5EF4-FFF2-40B4-BE49-F238E27FC236}">
                <a16:creationId xmlns:a16="http://schemas.microsoft.com/office/drawing/2014/main" id="{FAF4CBDF-0F34-7578-6114-51E533C9370C}"/>
              </a:ext>
            </a:extLst>
          </p:cNvPr>
          <p:cNvSpPr/>
          <p:nvPr/>
        </p:nvSpPr>
        <p:spPr>
          <a:xfrm>
            <a:off x="502920" y="1416070"/>
            <a:ext cx="5486400" cy="26924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1" name="Image 0" descr="icons/p_db.png">
            <a:extLst>
              <a:ext uri="{FF2B5EF4-FFF2-40B4-BE49-F238E27FC236}">
                <a16:creationId xmlns:a16="http://schemas.microsoft.com/office/drawing/2014/main" id="{9C9EA588-E70D-0449-71CD-3452996D3B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44670"/>
            <a:ext cx="457200" cy="457200"/>
          </a:xfrm>
          <a:prstGeom prst="rect">
            <a:avLst/>
          </a:prstGeom>
        </p:spPr>
      </p:pic>
      <p:sp>
        <p:nvSpPr>
          <p:cNvPr id="22" name="Text 7">
            <a:extLst>
              <a:ext uri="{FF2B5EF4-FFF2-40B4-BE49-F238E27FC236}">
                <a16:creationId xmlns:a16="http://schemas.microsoft.com/office/drawing/2014/main" id="{A552AF4C-72DB-E291-882F-90E2C88302A9}"/>
              </a:ext>
            </a:extLst>
          </p:cNvPr>
          <p:cNvSpPr/>
          <p:nvPr/>
        </p:nvSpPr>
        <p:spPr>
          <a:xfrm>
            <a:off x="1371600" y="164467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15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AI-G : NPU </a:t>
            </a:r>
            <a:r>
              <a:rPr lang="ko-KR" altLang="en-US" sz="15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실시간 추론 로그</a:t>
            </a:r>
          </a:p>
        </p:txBody>
      </p:sp>
      <p:sp>
        <p:nvSpPr>
          <p:cNvPr id="40" name="Shape 25">
            <a:extLst>
              <a:ext uri="{FF2B5EF4-FFF2-40B4-BE49-F238E27FC236}">
                <a16:creationId xmlns:a16="http://schemas.microsoft.com/office/drawing/2014/main" id="{6F7328A9-A228-CE64-2CB0-FA7D6E0FA35D}"/>
              </a:ext>
            </a:extLst>
          </p:cNvPr>
          <p:cNvSpPr/>
          <p:nvPr/>
        </p:nvSpPr>
        <p:spPr>
          <a:xfrm>
            <a:off x="457200" y="4244380"/>
            <a:ext cx="11155680" cy="201801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4470825"/>
              </p:ext>
            </p:extLst>
          </p:nvPr>
        </p:nvGraphicFramePr>
        <p:xfrm>
          <a:off x="548640" y="4408230"/>
          <a:ext cx="11064240" cy="1554480"/>
        </p:xfrm>
        <a:graphic>
          <a:graphicData uri="http://schemas.openxmlformats.org/drawingml/2006/table">
            <a:tbl>
              <a:tblPr/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NPU class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AI-G sign_name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D3-G key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제어 명령</a:t>
                      </a:r>
                      <a:endParaRPr lang="en-US" sz="12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76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B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stop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1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NoEntry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B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no_entry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96167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정지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2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SpeedLimit60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B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speed_60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60 제한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A2233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class 3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1E2761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SpeedLimit30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5A6B8C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speed_30</a:t>
                      </a:r>
                      <a:endParaRPr lang="en-US" sz="11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E8A33D"/>
                          </a:solidFill>
                          <a:latin typeface="맑은 고딕" pitchFamily="34" charset="0"/>
                          <a:ea typeface="맑은 고딕" pitchFamily="34" charset="-122"/>
                          <a:cs typeface="맑은 고딕" pitchFamily="34" charset="-120"/>
                        </a:rPr>
                        <a:t>속도 30 제한</a:t>
                      </a:r>
                      <a:endParaRPr lang="en-US" sz="1100" dirty="0">
                        <a:latin typeface="맑은 고딕" charset="0"/>
                        <a:ea typeface="맑은 고딕" charset="0"/>
                        <a:cs typeface="맑은 고딕" charset="0"/>
                      </a:endParaRPr>
                    </a:p>
                  </a:txBody>
                  <a:tcPr anchor="ctr">
                    <a:lnL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DDDD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3" name="Shape 6">
            <a:extLst>
              <a:ext uri="{FF2B5EF4-FFF2-40B4-BE49-F238E27FC236}">
                <a16:creationId xmlns:a16="http://schemas.microsoft.com/office/drawing/2014/main" id="{A8F554C3-3BFC-5021-A30A-4C6B43E16A12}"/>
              </a:ext>
            </a:extLst>
          </p:cNvPr>
          <p:cNvSpPr/>
          <p:nvPr/>
        </p:nvSpPr>
        <p:spPr>
          <a:xfrm>
            <a:off x="6095999" y="1416070"/>
            <a:ext cx="5486400" cy="269248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66" name="Shape 4"/>
          <p:cNvSpPr/>
          <p:nvPr/>
        </p:nvSpPr>
        <p:spPr>
          <a:xfrm>
            <a:off x="548640" y="1597446"/>
            <a:ext cx="5331416" cy="2331720"/>
          </a:xfrm>
          <a:prstGeom prst="roundRect">
            <a:avLst>
              <a:gd name="adj" fmla="val 1961"/>
            </a:avLst>
          </a:prstGeom>
          <a:solidFill>
            <a:srgbClr val="141B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7" name="Text 5"/>
          <p:cNvSpPr/>
          <p:nvPr/>
        </p:nvSpPr>
        <p:spPr>
          <a:xfrm>
            <a:off x="731520" y="1707174"/>
            <a:ext cx="5120640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./tcnnapp -n tsrc_yolov8s_quantized/ \
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-p /dev/video2 -g log
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npu_fd[13] - tsrc_yolov8s_quantized
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.enlight loaded[640x640]
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7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object is detected
</a:t>
            </a:r>
            <a:endParaRPr lang="en-US" sz="105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50" dirty="0">
                <a:solidFill>
                  <a:srgbClr val="E8A33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class: 3  score: 85.2  (SpeedLimit30)</a:t>
            </a:r>
            <a:endParaRPr lang="en-US" sz="1050" dirty="0"/>
          </a:p>
        </p:txBody>
      </p:sp>
      <p:sp>
        <p:nvSpPr>
          <p:cNvPr id="68" name="Shape 7"/>
          <p:cNvSpPr/>
          <p:nvPr/>
        </p:nvSpPr>
        <p:spPr>
          <a:xfrm>
            <a:off x="6217920" y="1597446"/>
            <a:ext cx="5242559" cy="2331720"/>
          </a:xfrm>
          <a:prstGeom prst="roundRect">
            <a:avLst>
              <a:gd name="adj" fmla="val 1961"/>
            </a:avLst>
          </a:prstGeom>
          <a:solidFill>
            <a:srgbClr val="141B3C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9" name="Text 8"/>
          <p:cNvSpPr/>
          <p:nvPr/>
        </p:nvSpPr>
        <p:spPr>
          <a:xfrm>
            <a:off x="6400800" y="1707174"/>
            <a:ext cx="5029200" cy="211226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7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AI-G → D3-G 전송 (JSON)
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{"sign_id":3,
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7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"sign_name":"SpeedLimit30",
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D6E0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"score":0.85,"bbox_h":120}
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5A6B8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Lane TCP: listening 9999
</a:t>
            </a:r>
            <a:endParaRPr lang="en-US" sz="1000" dirty="0"/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7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[INFO] Lane TCP: client connected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규약 &amp; CAN 제어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5486400" cy="4584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15727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/>
          <p:cNvSpPr/>
          <p:nvPr/>
        </p:nvSpPr>
        <p:spPr>
          <a:xfrm>
            <a:off x="77724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전송 (JSON)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777240" y="315468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/>
          <p:cNvSpPr/>
          <p:nvPr/>
        </p:nvSpPr>
        <p:spPr>
          <a:xfrm>
            <a:off x="960120" y="32918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A29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"sign_id"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3,
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"sign_name"</a:t>
            </a:r>
            <a:r>
              <a:rPr lang="en-US" sz="1400" dirty="0">
                <a:solidFill>
                  <a:srgbClr val="7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"SpeedLimit30",
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0.85, 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"bbox_h"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120 }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172200" y="1371600"/>
            <a:ext cx="5486400" cy="4584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/>
          <p:cNvSpPr/>
          <p:nvPr/>
        </p:nvSpPr>
        <p:spPr>
          <a:xfrm>
            <a:off x="6446520" y="15727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/>
          <p:cNvSpPr/>
          <p:nvPr/>
        </p:nvSpPr>
        <p:spPr>
          <a:xfrm>
            <a:off x="64465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구조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446520" y="32461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4A3AB5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/>
          <p:cNvSpPr/>
          <p:nvPr/>
        </p:nvSpPr>
        <p:spPr>
          <a:xfrm>
            <a:off x="644652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AI-G
</a:t>
            </a:r>
            <a:r>
              <a:rPr lang="en-US" sz="120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192.168.0.100 : 9999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595360" y="32461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19" name="Shape 17"/>
          <p:cNvSpPr/>
          <p:nvPr/>
        </p:nvSpPr>
        <p:spPr>
          <a:xfrm>
            <a:off x="9189720" y="32461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/>
          <p:cNvSpPr/>
          <p:nvPr/>
        </p:nvSpPr>
        <p:spPr>
          <a:xfrm>
            <a:off x="918972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
</a:t>
            </a:r>
            <a:r>
              <a:rPr lang="en-US" sz="120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접속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시 매 프레임 송신 · 가장 가까운 박스 1개</a:t>
            </a:r>
            <a:endParaRPr lang="en-US" sz="1400" b="1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A8341E-DB2A-3F55-F6F2-DD054001A4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A5DB15A-E892-144E-FE1D-A88ED06B8C20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EB01FB-1C4A-5AD0-2265-9315205C8276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DE7C9303-BFC2-A406-3C2C-F14AD0DB9C7F}"/>
              </a:ext>
            </a:extLst>
          </p:cNvPr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6B0A6E6-7942-EE4F-E654-AFA5F6311786}"/>
              </a:ext>
            </a:extLst>
          </p:cNvPr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통신 규약 &amp; CAN 제어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771D2998-C20A-79B6-83B6-3EB5A38C909B}"/>
              </a:ext>
            </a:extLst>
          </p:cNvPr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4AA377D1-03B3-52E1-7CED-5FD126B0A563}"/>
              </a:ext>
            </a:extLst>
          </p:cNvPr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2E3022F2-2261-EEBD-509D-2F0A75F3879E}"/>
              </a:ext>
            </a:extLst>
          </p:cNvPr>
          <p:cNvSpPr/>
          <p:nvPr/>
        </p:nvSpPr>
        <p:spPr>
          <a:xfrm>
            <a:off x="502920" y="1371599"/>
            <a:ext cx="11155680" cy="5065777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3C520A6F-2141-77FB-006F-67E2C589CC08}"/>
              </a:ext>
            </a:extLst>
          </p:cNvPr>
          <p:cNvSpPr/>
          <p:nvPr/>
        </p:nvSpPr>
        <p:spPr>
          <a:xfrm>
            <a:off x="963504" y="1843701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2F900702-56ED-1EB4-6D3B-A1947F5C6E83}"/>
              </a:ext>
            </a:extLst>
          </p:cNvPr>
          <p:cNvSpPr/>
          <p:nvPr/>
        </p:nvSpPr>
        <p:spPr>
          <a:xfrm>
            <a:off x="963504" y="1843701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altLang="ko-KR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</a:t>
            </a:r>
            <a:r>
              <a:rPr lang="ko-KR" alt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명령어셋 전송 확인</a:t>
            </a:r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C180954F-2939-489A-6238-59CF964F391E}"/>
              </a:ext>
            </a:extLst>
          </p:cNvPr>
          <p:cNvSpPr/>
          <p:nvPr/>
        </p:nvSpPr>
        <p:spPr>
          <a:xfrm>
            <a:off x="960120" y="2643407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70F9EE51-F536-9A99-7EA8-F0835E330C13}"/>
              </a:ext>
            </a:extLst>
          </p:cNvPr>
          <p:cNvSpPr/>
          <p:nvPr/>
        </p:nvSpPr>
        <p:spPr>
          <a:xfrm>
            <a:off x="1143000" y="2780567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sudo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python3 -c "import 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ldar_can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as C; c=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C.LdarCan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c.limit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(60); 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c.close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(); print('SENT OK')"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SENT OK</a:t>
            </a:r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42A3631B-F057-2150-DD49-9DD25757516F}"/>
              </a:ext>
            </a:extLst>
          </p:cNvPr>
          <p:cNvSpPr/>
          <p:nvPr/>
        </p:nvSpPr>
        <p:spPr>
          <a:xfrm>
            <a:off x="64465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구조</a:t>
            </a:r>
            <a:endParaRPr lang="en-US" sz="1250" dirty="0"/>
          </a:p>
        </p:txBody>
      </p:sp>
      <p:sp>
        <p:nvSpPr>
          <p:cNvPr id="22" name="Shape 9">
            <a:extLst>
              <a:ext uri="{FF2B5EF4-FFF2-40B4-BE49-F238E27FC236}">
                <a16:creationId xmlns:a16="http://schemas.microsoft.com/office/drawing/2014/main" id="{65558E6D-902B-2A47-3365-A981DAF1653A}"/>
              </a:ext>
            </a:extLst>
          </p:cNvPr>
          <p:cNvSpPr/>
          <p:nvPr/>
        </p:nvSpPr>
        <p:spPr>
          <a:xfrm>
            <a:off x="6278880" y="2643407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4" name="Text 10">
            <a:extLst>
              <a:ext uri="{FF2B5EF4-FFF2-40B4-BE49-F238E27FC236}">
                <a16:creationId xmlns:a16="http://schemas.microsoft.com/office/drawing/2014/main" id="{ED10BD04-05B7-AB13-13D8-F99D13F6CF08}"/>
              </a:ext>
            </a:extLst>
          </p:cNvPr>
          <p:cNvSpPr/>
          <p:nvPr/>
        </p:nvSpPr>
        <p:spPr>
          <a:xfrm>
            <a:off x="6461760" y="2780567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[CAN ] RX 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0: id 0x120, DLC 1, data: 0x01      ← </a:t>
            </a: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좌회전</a:t>
            </a:r>
            <a:r>
              <a: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x01)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[CAN ] -&gt; IPC forward to A72 (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3, CA72_NONSECURE)</a:t>
            </a:r>
          </a:p>
        </p:txBody>
      </p:sp>
      <p:sp>
        <p:nvSpPr>
          <p:cNvPr id="26" name="Shape 9">
            <a:extLst>
              <a:ext uri="{FF2B5EF4-FFF2-40B4-BE49-F238E27FC236}">
                <a16:creationId xmlns:a16="http://schemas.microsoft.com/office/drawing/2014/main" id="{C6C6CA1B-AF51-7B30-46E8-67BC64EAECD8}"/>
              </a:ext>
            </a:extLst>
          </p:cNvPr>
          <p:cNvSpPr/>
          <p:nvPr/>
        </p:nvSpPr>
        <p:spPr>
          <a:xfrm>
            <a:off x="960120" y="425794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28" name="Text 10">
            <a:extLst>
              <a:ext uri="{FF2B5EF4-FFF2-40B4-BE49-F238E27FC236}">
                <a16:creationId xmlns:a16="http://schemas.microsoft.com/office/drawing/2014/main" id="{BADA8E26-E29E-2F66-1DA3-D5AF8F799AF0}"/>
              </a:ext>
            </a:extLst>
          </p:cNvPr>
          <p:cNvSpPr/>
          <p:nvPr/>
        </p:nvSpPr>
        <p:spPr>
          <a:xfrm>
            <a:off x="1143000" y="439510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[CAN ] RX 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0: id 0x120, DLC 1, data: 0x01      ← </a:t>
            </a:r>
            <a:r>
              <a:rPr lang="ko-KR" alt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좌회전</a:t>
            </a:r>
            <a:r>
              <a:rPr lang="en-US" altLang="ko-KR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(0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x01)</a:t>
            </a:r>
          </a:p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[CAN ] -&gt; IPC forward to A72 (</a:t>
            </a:r>
            <a:r>
              <a:rPr lang="en-US" sz="1400" dirty="0" err="1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ch</a:t>
            </a:r>
            <a:r>
              <a:rPr lang="en-US" sz="1400" dirty="0">
                <a:solidFill>
                  <a:schemeClr val="bg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3, CA72_NONSECURE)</a:t>
            </a:r>
          </a:p>
        </p:txBody>
      </p:sp>
      <p:sp>
        <p:nvSpPr>
          <p:cNvPr id="29" name="Text 15">
            <a:extLst>
              <a:ext uri="{FF2B5EF4-FFF2-40B4-BE49-F238E27FC236}">
                <a16:creationId xmlns:a16="http://schemas.microsoft.com/office/drawing/2014/main" id="{060D23DD-3ADE-0918-639F-DCD33373FE5C}"/>
              </a:ext>
            </a:extLst>
          </p:cNvPr>
          <p:cNvSpPr/>
          <p:nvPr/>
        </p:nvSpPr>
        <p:spPr>
          <a:xfrm>
            <a:off x="6355080" y="4507992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VCP-G</a:t>
            </a:r>
            <a:endParaRPr lang="en-US" sz="1600" dirty="0"/>
          </a:p>
        </p:txBody>
      </p:sp>
      <p:sp>
        <p:nvSpPr>
          <p:cNvPr id="32" name="Text 18">
            <a:extLst>
              <a:ext uri="{FF2B5EF4-FFF2-40B4-BE49-F238E27FC236}">
                <a16:creationId xmlns:a16="http://schemas.microsoft.com/office/drawing/2014/main" id="{F8DF3F3E-E6D3-1FA5-4FFD-1B0113730387}"/>
              </a:ext>
            </a:extLst>
          </p:cNvPr>
          <p:cNvSpPr/>
          <p:nvPr/>
        </p:nvSpPr>
        <p:spPr>
          <a:xfrm>
            <a:off x="9098280" y="4507992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</a:t>
            </a:r>
            <a:endParaRPr lang="en-US" sz="1600" dirty="0"/>
          </a:p>
        </p:txBody>
      </p:sp>
      <p:sp>
        <p:nvSpPr>
          <p:cNvPr id="33" name="Text 19">
            <a:extLst>
              <a:ext uri="{FF2B5EF4-FFF2-40B4-BE49-F238E27FC236}">
                <a16:creationId xmlns:a16="http://schemas.microsoft.com/office/drawing/2014/main" id="{69EE8258-C9CF-1C50-6556-B3D452A4BB43}"/>
              </a:ext>
            </a:extLst>
          </p:cNvPr>
          <p:cNvSpPr/>
          <p:nvPr/>
        </p:nvSpPr>
        <p:spPr>
          <a:xfrm>
            <a:off x="3992880" y="1985435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3345268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169798-0C8A-251C-A50F-17063DA204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B93501A-CDF2-080A-C2F0-713F996789C9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7A4B3453-BCA9-ADDE-1CB4-9B6B0DE07536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05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6DCA28B0-EF48-37DC-94D9-C7B06C87DDBD}"/>
              </a:ext>
            </a:extLst>
          </p:cNvPr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53CC3729-D942-4AB4-9929-31AF40427E15}"/>
              </a:ext>
            </a:extLst>
          </p:cNvPr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</a:rPr>
              <a:t>차량 구동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3E1EB044-0CB1-BCC7-7056-125B78D13684}"/>
              </a:ext>
            </a:extLst>
          </p:cNvPr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F0286E08-3E92-FE05-DE3C-66FDF588C001}"/>
              </a:ext>
            </a:extLst>
          </p:cNvPr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>
            <a:extLst>
              <a:ext uri="{FF2B5EF4-FFF2-40B4-BE49-F238E27FC236}">
                <a16:creationId xmlns:a16="http://schemas.microsoft.com/office/drawing/2014/main" id="{333F7252-253C-08EB-9535-EE703DFBFFE5}"/>
              </a:ext>
            </a:extLst>
          </p:cNvPr>
          <p:cNvSpPr/>
          <p:nvPr/>
        </p:nvSpPr>
        <p:spPr>
          <a:xfrm>
            <a:off x="502920" y="1371600"/>
            <a:ext cx="5486400" cy="4584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4971D616-7FFE-7886-E711-6A8738882B25}"/>
              </a:ext>
            </a:extLst>
          </p:cNvPr>
          <p:cNvSpPr/>
          <p:nvPr/>
        </p:nvSpPr>
        <p:spPr>
          <a:xfrm>
            <a:off x="777240" y="15727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AD5F7A4D-E460-52C2-038C-76179BFCE698}"/>
              </a:ext>
            </a:extLst>
          </p:cNvPr>
          <p:cNvSpPr/>
          <p:nvPr/>
        </p:nvSpPr>
        <p:spPr>
          <a:xfrm>
            <a:off x="77724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전송 (JSON)</a:t>
            </a:r>
            <a:endParaRPr lang="en-US" sz="1250" dirty="0"/>
          </a:p>
        </p:txBody>
      </p:sp>
      <p:sp>
        <p:nvSpPr>
          <p:cNvPr id="11" name="Shape 9">
            <a:extLst>
              <a:ext uri="{FF2B5EF4-FFF2-40B4-BE49-F238E27FC236}">
                <a16:creationId xmlns:a16="http://schemas.microsoft.com/office/drawing/2014/main" id="{9001D75C-1DCC-CC22-ABF3-7518FF087FA1}"/>
              </a:ext>
            </a:extLst>
          </p:cNvPr>
          <p:cNvSpPr/>
          <p:nvPr/>
        </p:nvSpPr>
        <p:spPr>
          <a:xfrm>
            <a:off x="777240" y="3154680"/>
            <a:ext cx="4937760" cy="1371600"/>
          </a:xfrm>
          <a:prstGeom prst="roundRect">
            <a:avLst>
              <a:gd name="adj" fmla="val 4000"/>
            </a:avLst>
          </a:prstGeom>
          <a:solidFill>
            <a:srgbClr val="1A1A2E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C1E1FB9E-743A-8AAA-F13A-CA8D22DED344}"/>
              </a:ext>
            </a:extLst>
          </p:cNvPr>
          <p:cNvSpPr/>
          <p:nvPr/>
        </p:nvSpPr>
        <p:spPr>
          <a:xfrm>
            <a:off x="960120" y="3291840"/>
            <a:ext cx="46634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1800"/>
              </a:lnSpc>
              <a:buNone/>
            </a:pPr>
            <a:r>
              <a:rPr lang="en-US" sz="1400" dirty="0">
                <a:solidFill>
                  <a:srgbClr val="A29BFE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 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"sign_id"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3,
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"sign_name"</a:t>
            </a:r>
            <a:r>
              <a:rPr lang="en-US" sz="1400" dirty="0">
                <a:solidFill>
                  <a:srgbClr val="7FE0A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"SpeedLimit30",
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"score"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0.85, </a:t>
            </a:r>
            <a:r>
              <a:rPr lang="en-US" sz="1400" dirty="0">
                <a:solidFill>
                  <a:srgbClr val="FFE08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"bbox_h"</a:t>
            </a:r>
            <a:r>
              <a:rPr lang="en-US" sz="1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120 }</a:t>
            </a:r>
            <a:endParaRPr lang="en-US" sz="14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BF9079EF-DA91-38CE-77CC-F11FD51E28DE}"/>
              </a:ext>
            </a:extLst>
          </p:cNvPr>
          <p:cNvSpPr/>
          <p:nvPr/>
        </p:nvSpPr>
        <p:spPr>
          <a:xfrm>
            <a:off x="6172200" y="1371600"/>
            <a:ext cx="5486400" cy="45847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4" name="Shape 12">
            <a:extLst>
              <a:ext uri="{FF2B5EF4-FFF2-40B4-BE49-F238E27FC236}">
                <a16:creationId xmlns:a16="http://schemas.microsoft.com/office/drawing/2014/main" id="{AA2066FF-A90D-80BB-497A-E20EB8EB48DB}"/>
              </a:ext>
            </a:extLst>
          </p:cNvPr>
          <p:cNvSpPr/>
          <p:nvPr/>
        </p:nvSpPr>
        <p:spPr>
          <a:xfrm>
            <a:off x="6446520" y="1572768"/>
            <a:ext cx="2743200" cy="457200"/>
          </a:xfrm>
          <a:prstGeom prst="roundRect">
            <a:avLst>
              <a:gd name="adj" fmla="val 12000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5F568835-2EF2-5865-B5D3-36E39BB69234}"/>
              </a:ext>
            </a:extLst>
          </p:cNvPr>
          <p:cNvSpPr/>
          <p:nvPr/>
        </p:nvSpPr>
        <p:spPr>
          <a:xfrm>
            <a:off x="64465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연결 구조</a:t>
            </a:r>
            <a:endParaRPr lang="en-US" sz="1250" dirty="0"/>
          </a:p>
        </p:txBody>
      </p:sp>
      <p:sp>
        <p:nvSpPr>
          <p:cNvPr id="16" name="Shape 14">
            <a:extLst>
              <a:ext uri="{FF2B5EF4-FFF2-40B4-BE49-F238E27FC236}">
                <a16:creationId xmlns:a16="http://schemas.microsoft.com/office/drawing/2014/main" id="{D5B6A230-DCCD-E34F-65A2-13DFD7790F35}"/>
              </a:ext>
            </a:extLst>
          </p:cNvPr>
          <p:cNvSpPr/>
          <p:nvPr/>
        </p:nvSpPr>
        <p:spPr>
          <a:xfrm>
            <a:off x="6446520" y="3246120"/>
            <a:ext cx="2103120" cy="777240"/>
          </a:xfrm>
          <a:prstGeom prst="roundRect">
            <a:avLst>
              <a:gd name="adj" fmla="val 9412"/>
            </a:avLst>
          </a:prstGeom>
          <a:solidFill>
            <a:srgbClr val="4A3AB5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17" name="Text 15">
            <a:extLst>
              <a:ext uri="{FF2B5EF4-FFF2-40B4-BE49-F238E27FC236}">
                <a16:creationId xmlns:a16="http://schemas.microsoft.com/office/drawing/2014/main" id="{75D492C8-57F7-31CB-C3BC-6E9A128C4C56}"/>
              </a:ext>
            </a:extLst>
          </p:cNvPr>
          <p:cNvSpPr/>
          <p:nvPr/>
        </p:nvSpPr>
        <p:spPr>
          <a:xfrm>
            <a:off x="6446520" y="3246120"/>
            <a:ext cx="2103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AI-G
</a:t>
            </a:r>
            <a:r>
              <a:rPr lang="en-US" sz="120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192.168.0.100 : 9999</a:t>
            </a:r>
            <a:endParaRPr lang="en-US" sz="1600" dirty="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F184A252-0B3A-507B-1904-B5235913F2F5}"/>
              </a:ext>
            </a:extLst>
          </p:cNvPr>
          <p:cNvSpPr/>
          <p:nvPr/>
        </p:nvSpPr>
        <p:spPr>
          <a:xfrm>
            <a:off x="8595360" y="3246120"/>
            <a:ext cx="5486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6C5CE7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19" name="Shape 17">
            <a:extLst>
              <a:ext uri="{FF2B5EF4-FFF2-40B4-BE49-F238E27FC236}">
                <a16:creationId xmlns:a16="http://schemas.microsoft.com/office/drawing/2014/main" id="{B781CC31-3100-8A36-6D59-CD481D44D07A}"/>
              </a:ext>
            </a:extLst>
          </p:cNvPr>
          <p:cNvSpPr/>
          <p:nvPr/>
        </p:nvSpPr>
        <p:spPr>
          <a:xfrm>
            <a:off x="9189720" y="3246120"/>
            <a:ext cx="2194560" cy="777240"/>
          </a:xfrm>
          <a:prstGeom prst="roundRect">
            <a:avLst>
              <a:gd name="adj" fmla="val 9412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 sz="240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B69E00D3-26D9-FDFF-449E-F0BB56872859}"/>
              </a:ext>
            </a:extLst>
          </p:cNvPr>
          <p:cNvSpPr/>
          <p:nvPr/>
        </p:nvSpPr>
        <p:spPr>
          <a:xfrm>
            <a:off x="9189720" y="3246120"/>
            <a:ext cx="21945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
</a:t>
            </a:r>
            <a:r>
              <a:rPr lang="en-US" sz="1200" dirty="0">
                <a:solidFill>
                  <a:srgbClr val="E4E0FB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클라이언트 접속</a:t>
            </a:r>
            <a:endParaRPr lang="en-US" sz="1600" dirty="0"/>
          </a:p>
        </p:txBody>
      </p:sp>
      <p:sp>
        <p:nvSpPr>
          <p:cNvPr id="21" name="Text 19">
            <a:extLst>
              <a:ext uri="{FF2B5EF4-FFF2-40B4-BE49-F238E27FC236}">
                <a16:creationId xmlns:a16="http://schemas.microsoft.com/office/drawing/2014/main" id="{9B5B8C89-E145-BFDB-80B6-799A86D1137B}"/>
              </a:ext>
            </a:extLst>
          </p:cNvPr>
          <p:cNvSpPr/>
          <p:nvPr/>
        </p:nvSpPr>
        <p:spPr>
          <a:xfrm>
            <a:off x="6446520" y="4160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탐지 시 매 프레임 송신 · 가장 가까운 박스 1개</a:t>
            </a:r>
            <a:endParaRPr lang="en-US" sz="1400" b="1" dirty="0"/>
          </a:p>
        </p:txBody>
      </p:sp>
    </p:spTree>
    <p:extLst>
      <p:ext uri="{BB962C8B-B14F-4D97-AF65-F5344CB8AC3E}">
        <p14:creationId xmlns:p14="http://schemas.microsoft.com/office/powerpoint/2010/main" val="13880326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구현 및 검증 현황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9" name="Shape 7"/>
          <p:cNvSpPr/>
          <p:nvPr/>
        </p:nvSpPr>
        <p:spPr>
          <a:xfrm>
            <a:off x="777240" y="173736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0" name="Image 0" descr="icons/w_brai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1901952"/>
            <a:ext cx="384048" cy="384048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2788920" y="17830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7AE60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Text 9"/>
          <p:cNvSpPr/>
          <p:nvPr/>
        </p:nvSpPr>
        <p:spPr>
          <a:xfrm>
            <a:off x="278892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77724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AI-G 표지판 추론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425196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6" name="Shape 13"/>
          <p:cNvSpPr/>
          <p:nvPr/>
        </p:nvSpPr>
        <p:spPr>
          <a:xfrm>
            <a:off x="4526280" y="173736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7" name="Image 1" descr="icons/w_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90872" y="1901952"/>
            <a:ext cx="384048" cy="384048"/>
          </a:xfrm>
          <a:prstGeom prst="rect">
            <a:avLst/>
          </a:prstGeom>
        </p:spPr>
      </p:pic>
      <p:sp>
        <p:nvSpPr>
          <p:cNvPr id="18" name="Shape 14"/>
          <p:cNvSpPr/>
          <p:nvPr/>
        </p:nvSpPr>
        <p:spPr>
          <a:xfrm>
            <a:off x="6537960" y="17830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7AE60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653796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452628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TCP 결과 전송</a:t>
            </a:r>
            <a:endParaRPr lang="en-US" sz="1450" dirty="0"/>
          </a:p>
        </p:txBody>
      </p:sp>
      <p:sp>
        <p:nvSpPr>
          <p:cNvPr id="22" name="Shape 18"/>
          <p:cNvSpPr/>
          <p:nvPr/>
        </p:nvSpPr>
        <p:spPr>
          <a:xfrm>
            <a:off x="8001000" y="1463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3" name="Shape 19"/>
          <p:cNvSpPr/>
          <p:nvPr/>
        </p:nvSpPr>
        <p:spPr>
          <a:xfrm>
            <a:off x="8275320" y="173736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4" name="Image 2" descr="icons/w_wifi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39912" y="1901952"/>
            <a:ext cx="384048" cy="384048"/>
          </a:xfrm>
          <a:prstGeom prst="rect">
            <a:avLst/>
          </a:prstGeom>
        </p:spPr>
      </p:pic>
      <p:sp>
        <p:nvSpPr>
          <p:cNvPr id="25" name="Shape 20"/>
          <p:cNvSpPr/>
          <p:nvPr/>
        </p:nvSpPr>
        <p:spPr>
          <a:xfrm>
            <a:off x="10287000" y="17830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7AE60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6" name="Text 21"/>
          <p:cNvSpPr/>
          <p:nvPr/>
        </p:nvSpPr>
        <p:spPr>
          <a:xfrm>
            <a:off x="10287000" y="1783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27" name="Text 22"/>
          <p:cNvSpPr/>
          <p:nvPr/>
        </p:nvSpPr>
        <p:spPr>
          <a:xfrm>
            <a:off x="8275320" y="2606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 ↔ AI-G 유선</a:t>
            </a:r>
            <a:endParaRPr lang="en-US" sz="1450" dirty="0"/>
          </a:p>
        </p:txBody>
      </p:sp>
      <p:sp>
        <p:nvSpPr>
          <p:cNvPr id="29" name="Shape 24"/>
          <p:cNvSpPr/>
          <p:nvPr/>
        </p:nvSpPr>
        <p:spPr>
          <a:xfrm>
            <a:off x="502920" y="3749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0" name="Shape 25"/>
          <p:cNvSpPr/>
          <p:nvPr/>
        </p:nvSpPr>
        <p:spPr>
          <a:xfrm>
            <a:off x="777240" y="402336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1" name="Image 3" descr="icons/w_branch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1832" y="4187952"/>
            <a:ext cx="384048" cy="384048"/>
          </a:xfrm>
          <a:prstGeom prst="rect">
            <a:avLst/>
          </a:prstGeom>
        </p:spPr>
      </p:pic>
      <p:sp>
        <p:nvSpPr>
          <p:cNvPr id="32" name="Shape 26"/>
          <p:cNvSpPr/>
          <p:nvPr/>
        </p:nvSpPr>
        <p:spPr>
          <a:xfrm>
            <a:off x="2788920" y="40690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7AE60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3" name="Text 27"/>
          <p:cNvSpPr/>
          <p:nvPr/>
        </p:nvSpPr>
        <p:spPr>
          <a:xfrm>
            <a:off x="2788920" y="4069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34" name="Text 28"/>
          <p:cNvSpPr/>
          <p:nvPr/>
        </p:nvSpPr>
        <p:spPr>
          <a:xfrm>
            <a:off x="77724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 판정 로직</a:t>
            </a:r>
            <a:endParaRPr lang="en-US" sz="1450" dirty="0"/>
          </a:p>
        </p:txBody>
      </p:sp>
      <p:sp>
        <p:nvSpPr>
          <p:cNvPr id="36" name="Shape 30"/>
          <p:cNvSpPr/>
          <p:nvPr/>
        </p:nvSpPr>
        <p:spPr>
          <a:xfrm>
            <a:off x="4251960" y="3749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7" name="Shape 31"/>
          <p:cNvSpPr/>
          <p:nvPr/>
        </p:nvSpPr>
        <p:spPr>
          <a:xfrm>
            <a:off x="4526280" y="402336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38" name="Image 4" descr="icons/w_ca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90872" y="4187952"/>
            <a:ext cx="384048" cy="384048"/>
          </a:xfrm>
          <a:prstGeom prst="rect">
            <a:avLst/>
          </a:prstGeom>
        </p:spPr>
      </p:pic>
      <p:sp>
        <p:nvSpPr>
          <p:cNvPr id="39" name="Shape 32"/>
          <p:cNvSpPr/>
          <p:nvPr/>
        </p:nvSpPr>
        <p:spPr>
          <a:xfrm>
            <a:off x="6537960" y="40690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27AE60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0" name="Text 33"/>
          <p:cNvSpPr/>
          <p:nvPr/>
        </p:nvSpPr>
        <p:spPr>
          <a:xfrm>
            <a:off x="6537960" y="4069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완료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52628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CAN → VCP-G</a:t>
            </a:r>
            <a:endParaRPr lang="en-US" sz="1450" dirty="0"/>
          </a:p>
        </p:txBody>
      </p:sp>
      <p:sp>
        <p:nvSpPr>
          <p:cNvPr id="43" name="Shape 36"/>
          <p:cNvSpPr/>
          <p:nvPr/>
        </p:nvSpPr>
        <p:spPr>
          <a:xfrm>
            <a:off x="8001000" y="3749040"/>
            <a:ext cx="3520440" cy="2057400"/>
          </a:xfrm>
          <a:prstGeom prst="roundRect">
            <a:avLst>
              <a:gd name="adj" fmla="val 4444"/>
            </a:avLst>
          </a:prstGeom>
          <a:solidFill>
            <a:srgbClr val="E4E0FB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4" name="Shape 37"/>
          <p:cNvSpPr/>
          <p:nvPr/>
        </p:nvSpPr>
        <p:spPr>
          <a:xfrm>
            <a:off x="8275320" y="4023360"/>
            <a:ext cx="713232" cy="713232"/>
          </a:xfrm>
          <a:prstGeom prst="roundRect">
            <a:avLst>
              <a:gd name="adj" fmla="val 10256"/>
            </a:avLst>
          </a:prstGeom>
          <a:solidFill>
            <a:srgbClr val="E8A33D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45" name="Image 5" descr="icons/w_sync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39912" y="4187952"/>
            <a:ext cx="384048" cy="384048"/>
          </a:xfrm>
          <a:prstGeom prst="rect">
            <a:avLst/>
          </a:prstGeom>
        </p:spPr>
      </p:pic>
      <p:sp>
        <p:nvSpPr>
          <p:cNvPr id="46" name="Shape 38"/>
          <p:cNvSpPr/>
          <p:nvPr/>
        </p:nvSpPr>
        <p:spPr>
          <a:xfrm>
            <a:off x="10287000" y="4069080"/>
            <a:ext cx="1005840" cy="411480"/>
          </a:xfrm>
          <a:prstGeom prst="roundRect">
            <a:avLst>
              <a:gd name="adj" fmla="val 48889"/>
            </a:avLst>
          </a:prstGeom>
          <a:solidFill>
            <a:srgbClr val="E8A33D"/>
          </a:solidFill>
          <a:ln w="1587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7" name="Text 39"/>
          <p:cNvSpPr/>
          <p:nvPr/>
        </p:nvSpPr>
        <p:spPr>
          <a:xfrm>
            <a:off x="10287000" y="4069080"/>
            <a:ext cx="1005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진행</a:t>
            </a:r>
            <a:endParaRPr lang="en-US" sz="1100" dirty="0"/>
          </a:p>
        </p:txBody>
      </p:sp>
      <p:sp>
        <p:nvSpPr>
          <p:cNvPr id="48" name="Text 40"/>
          <p:cNvSpPr/>
          <p:nvPr/>
        </p:nvSpPr>
        <p:spPr>
          <a:xfrm>
            <a:off x="8275320" y="4892040"/>
            <a:ext cx="3017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최종 통합 실연</a:t>
            </a:r>
            <a:endParaRPr lang="en-US" sz="1450" dirty="0"/>
          </a:p>
        </p:txBody>
      </p:sp>
      <p:sp>
        <p:nvSpPr>
          <p:cNvPr id="49" name="Text 41"/>
          <p:cNvSpPr/>
          <p:nvPr/>
        </p:nvSpPr>
        <p:spPr>
          <a:xfrm>
            <a:off x="8275320" y="5239512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8888A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 보드 이슈로 미완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F8471B-6E5D-25AC-8131-F4C5338D2C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96C6873F-7857-2170-3833-54603E734F6C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820113B-BD54-3897-E4DD-03A15112ED8C}"/>
              </a:ext>
            </a:extLst>
          </p:cNvPr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3294B741-46E7-DB68-D62A-13F288297C51}"/>
              </a:ext>
            </a:extLst>
          </p:cNvPr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D477CA-FB37-67D0-DD99-9EC5CBD619CE}"/>
              </a:ext>
            </a:extLst>
          </p:cNvPr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ko-KR" alt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데모</a:t>
            </a:r>
            <a:endParaRPr lang="en-US" sz="22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D925DE81-E6AF-CE38-31CF-72B54DE7C632}"/>
              </a:ext>
            </a:extLst>
          </p:cNvPr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E60F9C23-9EE5-4E5F-6ABA-D95088B71D83}"/>
              </a:ext>
            </a:extLst>
          </p:cNvPr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14" name="Shape 0">
            <a:extLst>
              <a:ext uri="{FF2B5EF4-FFF2-40B4-BE49-F238E27FC236}">
                <a16:creationId xmlns:a16="http://schemas.microsoft.com/office/drawing/2014/main" id="{5AB5420C-F528-5B80-D42C-BE78A413E231}"/>
              </a:ext>
            </a:extLst>
          </p:cNvPr>
          <p:cNvSpPr/>
          <p:nvPr/>
        </p:nvSpPr>
        <p:spPr>
          <a:xfrm>
            <a:off x="502920" y="1280160"/>
            <a:ext cx="11155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1" name="Shape 1">
            <a:extLst>
              <a:ext uri="{FF2B5EF4-FFF2-40B4-BE49-F238E27FC236}">
                <a16:creationId xmlns:a16="http://schemas.microsoft.com/office/drawing/2014/main" id="{452D9F74-D83A-B5BB-C020-2CDE3AE8F145}"/>
              </a:ext>
            </a:extLst>
          </p:cNvPr>
          <p:cNvSpPr/>
          <p:nvPr/>
        </p:nvSpPr>
        <p:spPr>
          <a:xfrm>
            <a:off x="914400" y="1783080"/>
            <a:ext cx="182880" cy="32918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8" name="Text 3">
            <a:extLst>
              <a:ext uri="{FF2B5EF4-FFF2-40B4-BE49-F238E27FC236}">
                <a16:creationId xmlns:a16="http://schemas.microsoft.com/office/drawing/2014/main" id="{C04C29FC-F847-A3E5-4F38-9387A4F2E002}"/>
              </a:ext>
            </a:extLst>
          </p:cNvPr>
          <p:cNvSpPr/>
          <p:nvPr/>
        </p:nvSpPr>
        <p:spPr>
          <a:xfrm>
            <a:off x="1325880" y="3187700"/>
            <a:ext cx="9601200" cy="812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>
              <a:lnSpc>
                <a:spcPts val="4200"/>
              </a:lnSpc>
            </a:pPr>
            <a:r>
              <a:rPr lang="en-US" sz="5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</a:rPr>
              <a:t>Demo &amp; </a:t>
            </a:r>
            <a:r>
              <a:rPr lang="en-US" sz="5400" b="1" dirty="0" err="1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</a:rPr>
              <a:t>vcp</a:t>
            </a:r>
            <a:r>
              <a:rPr lang="en-US" sz="5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</a:rPr>
              <a:t>-g </a:t>
            </a:r>
            <a:r>
              <a:rPr lang="ko-KR" altLang="en-US" sz="54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</a:rPr>
              <a:t>동작 소개</a:t>
            </a:r>
            <a:endParaRPr lang="en-US" sz="5400" dirty="0"/>
          </a:p>
        </p:txBody>
      </p:sp>
    </p:spTree>
    <p:extLst>
      <p:ext uri="{BB962C8B-B14F-4D97-AF65-F5344CB8AC3E}">
        <p14:creationId xmlns:p14="http://schemas.microsoft.com/office/powerpoint/2010/main" val="38075681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FE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457200"/>
            <a:ext cx="914400" cy="640080"/>
          </a:xfrm>
          <a:prstGeom prst="roundRect">
            <a:avLst>
              <a:gd name="adj" fmla="val 8571"/>
            </a:avLst>
          </a:prstGeom>
          <a:solidFill>
            <a:srgbClr val="6C5CE7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Text 1"/>
          <p:cNvSpPr/>
          <p:nvPr/>
        </p:nvSpPr>
        <p:spPr>
          <a:xfrm>
            <a:off x="502920" y="457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06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554480" y="457200"/>
            <a:ext cx="868680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783080" y="4572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한계와 향후 계획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0424160" y="457200"/>
            <a:ext cx="1234440" cy="64008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7" name="Text 5"/>
          <p:cNvSpPr/>
          <p:nvPr/>
        </p:nvSpPr>
        <p:spPr>
          <a:xfrm>
            <a:off x="10424160" y="420624"/>
            <a:ext cx="1234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»</a:t>
            </a:r>
            <a:endParaRPr lang="en-US" sz="2800" dirty="0"/>
          </a:p>
        </p:txBody>
      </p:sp>
      <p:sp>
        <p:nvSpPr>
          <p:cNvPr id="8" name="Shape 6"/>
          <p:cNvSpPr/>
          <p:nvPr/>
        </p:nvSpPr>
        <p:spPr>
          <a:xfrm>
            <a:off x="502920" y="1371600"/>
            <a:ext cx="11155680" cy="1097280"/>
          </a:xfrm>
          <a:prstGeom prst="roundRect">
            <a:avLst>
              <a:gd name="adj" fmla="val 8333"/>
            </a:avLst>
          </a:prstGeom>
          <a:solidFill>
            <a:srgbClr val="E4E0FB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9" name="Image 0" descr="icons/p_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1627632"/>
            <a:ext cx="548640" cy="54864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463040" y="137160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50" b="1" dirty="0">
                <a:solidFill>
                  <a:srgbClr val="4A3AB5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발표 시점 현황    </a:t>
            </a:r>
            <a:r>
              <a:rPr lang="en-US" sz="13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단계별 동작은 모두 검증했으나, 발표 직전 </a:t>
            </a:r>
            <a:r>
              <a:rPr lang="en-US" sz="1300" b="1" dirty="0">
                <a:solidFill>
                  <a:srgbClr val="E74C6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 보드 장애</a:t>
            </a:r>
            <a:r>
              <a:rPr lang="en-US" sz="13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</a:t>
            </a:r>
            <a:endParaRPr lang="en-US" sz="1350" dirty="0"/>
          </a:p>
          <a:p>
            <a:pPr marL="0" indent="0">
              <a:lnSpc>
                <a:spcPts val="1800"/>
              </a:lnSpc>
              <a:buNone/>
            </a:pPr>
            <a:r>
              <a:rPr lang="en-US" sz="130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전체 파이프라인 통합 실연은 기록하지 못함</a:t>
            </a:r>
            <a:endParaRPr lang="en-US" sz="1350" dirty="0"/>
          </a:p>
        </p:txBody>
      </p:sp>
      <p:sp>
        <p:nvSpPr>
          <p:cNvPr id="11" name="Shape 8"/>
          <p:cNvSpPr/>
          <p:nvPr/>
        </p:nvSpPr>
        <p:spPr>
          <a:xfrm>
            <a:off x="502920" y="274320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12" name="Shape 9"/>
          <p:cNvSpPr/>
          <p:nvPr/>
        </p:nvSpPr>
        <p:spPr>
          <a:xfrm>
            <a:off x="777240" y="30175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13" name="Image 1" descr="icons/w_camer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0120" y="32004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737360" y="3063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모델 정확도 개선</a:t>
            </a:r>
            <a:endParaRPr lang="en-US" sz="1700" dirty="0"/>
          </a:p>
        </p:txBody>
      </p:sp>
      <p:sp>
        <p:nvSpPr>
          <p:cNvPr id="15" name="Shape 11"/>
          <p:cNvSpPr/>
          <p:nvPr/>
        </p:nvSpPr>
        <p:spPr>
          <a:xfrm>
            <a:off x="868680" y="4160520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6" name="Text 12"/>
          <p:cNvSpPr/>
          <p:nvPr/>
        </p:nvSpPr>
        <p:spPr>
          <a:xfrm>
            <a:off x="86868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1280160" y="40873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실제 트랙 환경 데이터 수집·학습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868680" y="4727448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9" name="Text 15"/>
          <p:cNvSpPr/>
          <p:nvPr/>
        </p:nvSpPr>
        <p:spPr>
          <a:xfrm>
            <a:off x="868680" y="4709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0" name="Text 16"/>
          <p:cNvSpPr/>
          <p:nvPr/>
        </p:nvSpPr>
        <p:spPr>
          <a:xfrm>
            <a:off x="1280160" y="46542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30↔60 혼동 완화 (근접 데이터)</a:t>
            </a:r>
            <a:endParaRPr lang="en-US" sz="1250" dirty="0"/>
          </a:p>
        </p:txBody>
      </p:sp>
      <p:sp>
        <p:nvSpPr>
          <p:cNvPr id="21" name="Shape 17"/>
          <p:cNvSpPr/>
          <p:nvPr/>
        </p:nvSpPr>
        <p:spPr>
          <a:xfrm>
            <a:off x="868680" y="5294376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2" name="Text 18"/>
          <p:cNvSpPr/>
          <p:nvPr/>
        </p:nvSpPr>
        <p:spPr>
          <a:xfrm>
            <a:off x="868680" y="5276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1280160" y="522122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Roboflow 증강 + fine-tuning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217920" y="2743200"/>
            <a:ext cx="5440680" cy="3291840"/>
          </a:xfrm>
          <a:prstGeom prst="roundRect">
            <a:avLst>
              <a:gd name="adj" fmla="val 277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25" name="Shape 21"/>
          <p:cNvSpPr/>
          <p:nvPr/>
        </p:nvSpPr>
        <p:spPr>
          <a:xfrm>
            <a:off x="6492240" y="3017520"/>
            <a:ext cx="777240" cy="777240"/>
          </a:xfrm>
          <a:prstGeom prst="roundRect">
            <a:avLst>
              <a:gd name="adj" fmla="val 9412"/>
            </a:avLst>
          </a:prstGeom>
          <a:solidFill>
            <a:srgbClr val="6C5CE7"/>
          </a:solidFill>
          <a:ln w="19050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pic>
        <p:nvPicPr>
          <p:cNvPr id="26" name="Image 2" descr="icons/w_cog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675120" y="3200400"/>
            <a:ext cx="411480" cy="411480"/>
          </a:xfrm>
          <a:prstGeom prst="rect">
            <a:avLst/>
          </a:prstGeom>
        </p:spPr>
      </p:pic>
      <p:sp>
        <p:nvSpPr>
          <p:cNvPr id="27" name="Text 22"/>
          <p:cNvSpPr/>
          <p:nvPr/>
        </p:nvSpPr>
        <p:spPr>
          <a:xfrm>
            <a:off x="7452360" y="3063240"/>
            <a:ext cx="4023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시스템 완성도</a:t>
            </a:r>
            <a:endParaRPr lang="en-US" sz="1700" dirty="0"/>
          </a:p>
        </p:txBody>
      </p:sp>
      <p:sp>
        <p:nvSpPr>
          <p:cNvPr id="28" name="Shape 23"/>
          <p:cNvSpPr/>
          <p:nvPr/>
        </p:nvSpPr>
        <p:spPr>
          <a:xfrm>
            <a:off x="6583680" y="4160520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9" name="Text 24"/>
          <p:cNvSpPr/>
          <p:nvPr/>
        </p:nvSpPr>
        <p:spPr>
          <a:xfrm>
            <a:off x="6583680" y="4142232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0" name="Text 25"/>
          <p:cNvSpPr/>
          <p:nvPr/>
        </p:nvSpPr>
        <p:spPr>
          <a:xfrm>
            <a:off x="6995160" y="4087368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D3-G 복구 후 통합 실연 확보</a:t>
            </a:r>
            <a:endParaRPr lang="en-US" sz="1250" dirty="0"/>
          </a:p>
        </p:txBody>
      </p:sp>
      <p:sp>
        <p:nvSpPr>
          <p:cNvPr id="31" name="Shape 26"/>
          <p:cNvSpPr/>
          <p:nvPr/>
        </p:nvSpPr>
        <p:spPr>
          <a:xfrm>
            <a:off x="6583680" y="4727448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2" name="Text 27"/>
          <p:cNvSpPr/>
          <p:nvPr/>
        </p:nvSpPr>
        <p:spPr>
          <a:xfrm>
            <a:off x="6583680" y="4709160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3" name="Text 28"/>
          <p:cNvSpPr/>
          <p:nvPr/>
        </p:nvSpPr>
        <p:spPr>
          <a:xfrm>
            <a:off x="6995160" y="4654296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bbox_h 거리 임계값 실측 튜닝</a:t>
            </a:r>
            <a:endParaRPr lang="en-US" sz="1250" dirty="0"/>
          </a:p>
        </p:txBody>
      </p:sp>
      <p:sp>
        <p:nvSpPr>
          <p:cNvPr id="34" name="Shape 29"/>
          <p:cNvSpPr/>
          <p:nvPr/>
        </p:nvSpPr>
        <p:spPr>
          <a:xfrm>
            <a:off x="6583680" y="5294376"/>
            <a:ext cx="256032" cy="256032"/>
          </a:xfrm>
          <a:prstGeom prst="ellipse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35" name="Text 30"/>
          <p:cNvSpPr/>
          <p:nvPr/>
        </p:nvSpPr>
        <p:spPr>
          <a:xfrm>
            <a:off x="6583680" y="5276088"/>
            <a:ext cx="25603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✓</a:t>
            </a:r>
            <a:endParaRPr lang="en-US" sz="1100" dirty="0"/>
          </a:p>
        </p:txBody>
      </p:sp>
      <p:sp>
        <p:nvSpPr>
          <p:cNvPr id="36" name="Text 31"/>
          <p:cNvSpPr/>
          <p:nvPr/>
        </p:nvSpPr>
        <p:spPr>
          <a:xfrm>
            <a:off x="6995160" y="5221224"/>
            <a:ext cx="44805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2D2D44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차선 인식(UFLD) 연동 확장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6C5CE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" y="1280160"/>
            <a:ext cx="11155680" cy="4297680"/>
          </a:xfrm>
          <a:prstGeom prst="roundRect">
            <a:avLst>
              <a:gd name="adj" fmla="val 2128"/>
            </a:avLst>
          </a:prstGeom>
          <a:solidFill>
            <a:srgbClr val="FFFFFF"/>
          </a:solidFill>
          <a:ln w="22225">
            <a:solidFill>
              <a:srgbClr val="1A1A2E"/>
            </a:solidFill>
            <a:prstDash val="solid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3" name="Shape 1"/>
          <p:cNvSpPr/>
          <p:nvPr/>
        </p:nvSpPr>
        <p:spPr>
          <a:xfrm>
            <a:off x="914400" y="1783080"/>
            <a:ext cx="182880" cy="3291840"/>
          </a:xfrm>
          <a:prstGeom prst="rect">
            <a:avLst/>
          </a:prstGeom>
          <a:solidFill>
            <a:srgbClr val="6C5CE7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5" name="Text 3"/>
          <p:cNvSpPr/>
          <p:nvPr/>
        </p:nvSpPr>
        <p:spPr>
          <a:xfrm>
            <a:off x="1325880" y="2628900"/>
            <a:ext cx="960120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ts val="4200"/>
              </a:lnSpc>
              <a:buNone/>
            </a:pPr>
            <a:r>
              <a:rPr lang="ko-KR" altLang="en-US" sz="3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감사합니다</a:t>
            </a:r>
            <a:endParaRPr lang="en-US" altLang="ko-KR" sz="3300" b="1" dirty="0">
              <a:solidFill>
                <a:srgbClr val="1A1A2E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0" indent="0">
              <a:lnSpc>
                <a:spcPts val="4200"/>
              </a:lnSpc>
              <a:buNone/>
            </a:pPr>
            <a:endParaRPr lang="en-US" sz="3300" b="1" dirty="0">
              <a:solidFill>
                <a:srgbClr val="1A1A2E"/>
              </a:solidFill>
              <a:latin typeface="맑은 고딕" pitchFamily="34" charset="0"/>
              <a:ea typeface="맑은 고딕" pitchFamily="34" charset="-122"/>
            </a:endParaRPr>
          </a:p>
          <a:p>
            <a:pPr marL="0" indent="0">
              <a:lnSpc>
                <a:spcPts val="4200"/>
              </a:lnSpc>
              <a:buNone/>
            </a:pPr>
            <a:r>
              <a:rPr lang="en-US" sz="3300" b="1" dirty="0">
                <a:solidFill>
                  <a:srgbClr val="1A1A2E"/>
                </a:solidFill>
                <a:latin typeface="맑은 고딕" pitchFamily="34" charset="0"/>
                <a:ea typeface="맑은 고딕" pitchFamily="34" charset="-122"/>
              </a:rPr>
              <a:t>Q &amp; A</a:t>
            </a:r>
            <a:endParaRPr lang="en-US" sz="3300" dirty="0"/>
          </a:p>
        </p:txBody>
      </p:sp>
      <p:sp>
        <p:nvSpPr>
          <p:cNvPr id="12" name="Text 10"/>
          <p:cNvSpPr/>
          <p:nvPr/>
        </p:nvSpPr>
        <p:spPr>
          <a:xfrm>
            <a:off x="502920" y="5806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정은진 · </a:t>
            </a:r>
            <a:r>
              <a:rPr lang="en-US" sz="1300" dirty="0" err="1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서준</a:t>
            </a:r>
            <a:r>
              <a:rPr lang="ko-KR" altLang="en-US" sz="1300" dirty="0">
                <a:solidFill>
                  <a:srgbClr val="FFFFFF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상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843</Words>
  <Application>Microsoft Office PowerPoint</Application>
  <PresentationFormat>와이드스크린</PresentationFormat>
  <Paragraphs>245</Paragraphs>
  <Slides>15</Slides>
  <Notes>14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19" baseType="lpstr">
      <vt:lpstr>맑은 고딕</vt:lpstr>
      <vt:lpstr>Arial</vt:lpstr>
      <vt:lpstr>Consolas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표지판 인식 기반 자율 제어 시스템</dc:title>
  <dc:subject>PptxGenJS Presentation</dc:subject>
  <dc:creator>정은진 · 서준상</dc:creator>
  <cp:lastModifiedBy>은진 정</cp:lastModifiedBy>
  <cp:revision>10</cp:revision>
  <dcterms:created xsi:type="dcterms:W3CDTF">2026-06-12T01:03:26Z</dcterms:created>
  <dcterms:modified xsi:type="dcterms:W3CDTF">2026-06-12T02:51:58Z</dcterms:modified>
</cp:coreProperties>
</file>