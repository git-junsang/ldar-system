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3"/>
    <p:restoredTop sz="94610"/>
  </p:normalViewPr>
  <p:slideViewPr>
    <p:cSldViewPr snapToGrid="0" snapToObjects="1">
      <p:cViewPr>
        <p:scale>
          <a:sx n="191" d="100"/>
          <a:sy n="191" d="100"/>
        </p:scale>
        <p:origin x="4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939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10972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9070848" y="0"/>
            <a:ext cx="73152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PROJECT  ·  TOPST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31520" cy="182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차선이탈 자동 복귀 시스템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Departure Auto-Recovery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 수동 주행과 AI 기반 차선이탈 자동 개입을 결합한 SDV 축소 구현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전자전기공학부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정은진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소프트웨어공학부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kern="0" spc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594360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118872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진행 현황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44018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Progress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167335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169164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소개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194310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Scenario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17627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44602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267919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82296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269748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이탈 감지 파이프라인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294894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318211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2296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320040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선정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345186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MobileNet-V2 + U-Net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368503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370332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이탈 판정 로직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395478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418795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484632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400" y="118872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보드별 역할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144018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· D3-G · VCP-G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167335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484632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86400" y="169164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구조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194310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Inter-board Communication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17627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4846320" y="2194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486400" y="219456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메시지 정의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0" y="244602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Message Spec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67919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484632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486400" y="269748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 오버라이드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0" y="294894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Authority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18211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484632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486400" y="320040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물품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0" y="345186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Materials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68503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1"/>
          <p:cNvSpPr/>
          <p:nvPr/>
        </p:nvSpPr>
        <p:spPr>
          <a:xfrm>
            <a:off x="484632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486400" y="3703320"/>
            <a:ext cx="3291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환경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86400" y="3954780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4187952"/>
            <a:ext cx="365760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진행 현황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튜토리얼 커리큘럼 진척 상황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0515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87552" y="987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(Completed)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051560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2907792" y="987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지점 (Current)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109728" cy="10972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919472" y="987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 (Planned)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3836" y="1764792"/>
            <a:ext cx="18288" cy="2926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14400" y="1691640"/>
            <a:ext cx="164592" cy="16459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23444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D01–D02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16550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구성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655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Ubuntu/WSL · Yocto · D3-G R5 빌드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2109651"/>
            <a:ext cx="164592" cy="16459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234440" y="209136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D02–D03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2073075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 주변장치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073075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· ADC · I2C · SPI · PDM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527663"/>
            <a:ext cx="164592" cy="16459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234440" y="2509375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D03–D04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23160" y="2491087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&amp; IPC 통신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491087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A72↔R5 IPC · VCP-G CAN 수신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2945674"/>
            <a:ext cx="164592" cy="16459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234440" y="292738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23160" y="290909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Zone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90909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DC 모터 · 서보 · LED 통합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3363686"/>
            <a:ext cx="164592" cy="16459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34440" y="334539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332711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환경 + NPU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32711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tc-nn-toolkit · tc-nn-app · YOLOv8s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3781697"/>
            <a:ext cx="164592" cy="164592"/>
          </a:xfrm>
          <a:prstGeom prst="ellipse">
            <a:avLst/>
          </a:prstGeom>
          <a:solidFill>
            <a:srgbClr val="FF6B35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1234440" y="3763409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3745121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Zone AI 모델 탑재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745121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UFLD 차선 검출 · 추론 결과 확인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4199709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34440" y="4181421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D08–D09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23160" y="4163133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Zone · 통합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163133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계기판 App · Ethernet · Panel App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4617720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34440" y="4599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23160" y="45811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구현 · 발표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0680" y="45811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구현 · 최종 시연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4572000"/>
            <a:ext cx="8229600" cy="228600"/>
          </a:xfrm>
          <a:prstGeom prst="rect">
            <a:avLst/>
          </a:prstGeom>
          <a:solidFill>
            <a:srgbClr val="FFF4ED"/>
          </a:solidFill>
          <a:ln w="12700">
            <a:solidFill>
              <a:srgbClr val="FFF4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82296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지점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보드에 AI 모델(YOLOv8s · UFLD) 탑재 및 NPU 추론 실행까지 완료. 이후 단계는 프로젝트 주제에 맞게 확장 진행 예정.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소개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" cy="3657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주제인가?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상용차에는 이미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LDWS(차선이탈 경고)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LKAS(차선유지 보조)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ADAS 핵심 기능으로 탑재되어 운전자 부주의로 인한 사고를 줄이고 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프로젝트는 이 기능을 Telechips Zonal 아키텍처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기반의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차량에 직접 구현하여, 카메라 영상 → NPU 추론 → 차량 제어까지 이어지는 SDV 데이터 흐름을 축소 재현한다.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73152" cy="3657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동작하는가?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87452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1847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주행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075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조이스틱으로 모형 차량을 자유롭게 조작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404872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93776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377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차선 인식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2606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카메라가 전방 차선을 감지, 실선/점선을 구분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935224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4937760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2907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임박 감지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3136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쪽 접근 시 경고음 + 제어권 강제 이양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3465576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4937760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3438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복귀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666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보드가 서보 조향을 제어하여 차선 중앙으로 유도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3995928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4937760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3968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 반환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41970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 구역에 충분히 머무르면 사용자에게 반환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경고에 그치지 않는 차별화 요소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26517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1737360" cy="274320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LDWS → LKAS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경고를 넘어선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조향 개입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LDWS(경고)에서 멈추지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않고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LKAS(제어)까지 구현. 서보 조향각을 직접 조정하여 차량을 차선 중앙으로 자동 복귀시킨다.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5176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52044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3520440" y="2286000"/>
            <a:ext cx="1737360" cy="274320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35204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Context-aware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· 점선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오버라이드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실선은 절대 넘지 않아야 할 경계,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점선은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차선 변경이 허용된 경계.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종류에 따라 개입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분기하여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과도한 간섭을 방지한다.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126480" y="109728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26" name="Shape 24"/>
          <p:cNvSpPr/>
          <p:nvPr/>
        </p:nvSpPr>
        <p:spPr>
          <a:xfrm>
            <a:off x="6400800" y="2286000"/>
            <a:ext cx="173736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Authority Handoff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↔ 자율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 전환 UX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주행 중 위험 상황 감지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제어권을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자동 이양하고, 안정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복귀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후 다시 사용자에게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반환하는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상태 머신을 구현한다.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이탈 감지 파이프라인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NPU → Detection → Decision → 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9768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29768" y="1463040"/>
            <a:ext cx="1243584" cy="438912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29768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 CSI-2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영상 스트리밍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rot="5400000">
            <a:off x="1691640" y="2121408"/>
            <a:ext cx="128016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1837944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1837944" y="1463040"/>
            <a:ext cx="1243584" cy="438912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837944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83664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83664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288×800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rot="5400000">
            <a:off x="3099816" y="2121408"/>
            <a:ext cx="128016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246120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3246120" y="1463040"/>
            <a:ext cx="1243584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3246120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추론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MobileNet-V2 + U-Net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8TOPS NPU 실행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rot="5400000">
            <a:off x="4507992" y="2121408"/>
            <a:ext cx="128016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4654296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4654296" y="1463040"/>
            <a:ext cx="1243584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4654296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0016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0016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→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실선/점선 분류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rot="5400000">
            <a:off x="5916168" y="2121408"/>
            <a:ext cx="128016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062472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6062472" y="1463040"/>
            <a:ext cx="1243584" cy="438912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062472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08192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송신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08192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TCP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D3-G로 전달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rot="5400000">
            <a:off x="7324344" y="2121408"/>
            <a:ext cx="128016" cy="146304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7470648" y="1463040"/>
            <a:ext cx="12435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7470648" y="1463040"/>
            <a:ext cx="124358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7470648" y="146304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16368" y="19659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· 제어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16368" y="2267712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판정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조향·감속·경고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9768" y="3200400"/>
            <a:ext cx="26517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429768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 ·  Sensing Zone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3200400"/>
            <a:ext cx="26517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324612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 ·  Inference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62472" y="32004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6062472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 ·  HPC Zone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3886200"/>
            <a:ext cx="7863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Shape 49"/>
          <p:cNvSpPr/>
          <p:nvPr/>
        </p:nvSpPr>
        <p:spPr>
          <a:xfrm>
            <a:off x="640080" y="3886200"/>
            <a:ext cx="54864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82296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" y="41879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추론은 전적으로 AI-G NPU에서 수행 — CPU는 전·후처리와 전송만 담당하여 실시간성 확보
</a:t>
            </a: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판정과 제어 로직은 D3-G A72가 전담 — 인지(Sensing)와 제어(Control)의 책임 분리
</a:t>
            </a: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Ethernet(패킷) → IPC(CPU↔MCU) → CAN(MCU↔차량) — Zonal 아키텍처의 계층적 데이터 흐름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선정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MobileNet-V2 기반 U-Net 아키텍처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모델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MobileNet-V2 + U-Net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Semantic Segmentation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286000"/>
            <a:ext cx="54864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412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27432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초경량 딥러닝 네트워크. Depthwise Separable Convolution과 Inverted Residual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구조로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수와 연산량을 대폭 감소. NPU 리소스가 제한된 AI-G 환경에 적합.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54864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41248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39319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안의 모든 픽셀을 분석해 도로 · 차선 · 배경을 정교하게 구분하는 Semantic Segmentation 모델. Encoder–Decoder + Skip Connection으로 경계 정보 보존에 강함.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3560" y="1051560"/>
            <a:ext cx="306324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58064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COMBO?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17830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곡률을 픽셀 단위로 정밀 인식
</a:t>
            </a: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실선/점선의 연속성 차이를 포착 가능
</a:t>
            </a: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친화적 CNN 구조
</a:t>
            </a: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추론 가능한 경량 크기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3291840"/>
            <a:ext cx="3063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5623560" y="3291840"/>
            <a:ext cx="30632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623560" y="32918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D3-G로 전달할 데이터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6576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좌/우 차선 좌표 (픽셀 단위)
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종류 — 실선(1) / 점선(2)
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위험도 (0.0 ~ 1.0)
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타임스탬프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/>
          <p:cNvSpPr/>
          <p:nvPr/>
        </p:nvSpPr>
        <p:spPr>
          <a:xfrm>
            <a:off x="649224" y="3154680"/>
            <a:ext cx="27432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649224" y="2377440"/>
            <a:ext cx="27432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49224" y="1600200"/>
            <a:ext cx="27432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이탈 판정 로직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A72에서 수행되는 판정 프로세스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170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 수신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4081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AI-G로부터 좌/우 차선 좌표, 차선 종류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411480" cy="4114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1947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중심 기준 거리 계산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18541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하단 중심점과 좌/우 차선 픽셀 거리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724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속도(rate) 계산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626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프레임 대비 거리 변화량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502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비교 + 분기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7398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종류 · 거리 · 접근속도로 상태 결정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1051560"/>
            <a:ext cx="3017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5669280" y="1051560"/>
            <a:ext cx="3017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5669280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1554480"/>
            <a:ext cx="109728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5852160" y="1554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&gt; Tout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제어 유지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2249424"/>
            <a:ext cx="26517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852160" y="2304288"/>
            <a:ext cx="10972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852160" y="23042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&lt; Tin  &amp;  점선 쪽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761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경고음만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999232"/>
            <a:ext cx="26517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Shape 39"/>
          <p:cNvSpPr/>
          <p:nvPr/>
        </p:nvSpPr>
        <p:spPr>
          <a:xfrm>
            <a:off x="5852160" y="3054096"/>
            <a:ext cx="1097280" cy="2377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5852160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&lt; Tin  &amp;  실선 쪽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 이양 + 조향 복귀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52160" y="3749040"/>
            <a:ext cx="2651760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44"/>
          <p:cNvSpPr/>
          <p:nvPr/>
        </p:nvSpPr>
        <p:spPr>
          <a:xfrm>
            <a:off x="5852160" y="3803904"/>
            <a:ext cx="109728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5852160" y="3803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52160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차선 접촉/통과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52160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감속 + 조향 복귀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보드별 역할 개요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· HPC · Control — 3개 보드의 책임 분리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24688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246888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ZONE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(Perception)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2926080"/>
            <a:ext cx="1005840" cy="137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영상을 NPU 추론하여 차선 정보 추출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1031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A53 + NPU 8TOPS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2GB LPDDR4X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5400000">
            <a:off x="2999232" y="2656332"/>
            <a:ext cx="25603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3337560" y="1051560"/>
            <a:ext cx="24688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3337560" y="1051560"/>
            <a:ext cx="246888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33375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ZONE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33756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69080" y="2926080"/>
            <a:ext cx="1005840" cy="137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352044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입력과 인지 결과를 통합하여 제어 명령 생성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20440" y="3840480"/>
            <a:ext cx="2103120" cy="548640"/>
          </a:xfrm>
          <a:prstGeom prst="rect">
            <a:avLst/>
          </a:prstGeom>
          <a:solidFill>
            <a:srgbClr val="FFF4ED"/>
          </a:solidFill>
          <a:ln w="12700">
            <a:solidFill>
              <a:srgbClr val="FFF4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35204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A72 (Linux)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R5 (FreeRTOS)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rot="5400000">
            <a:off x="5879592" y="2656332"/>
            <a:ext cx="256032" cy="21945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217920" y="1051560"/>
            <a:ext cx="24688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6217920" y="1051560"/>
            <a:ext cx="246888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21792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ZONE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217920" y="2148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(Actuation)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49440" y="2926080"/>
            <a:ext cx="1005840" cy="1371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40080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메시지 수신 후 모터 · LED · 경고음 제어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3840480"/>
            <a:ext cx="21031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008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FreeRTOS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 흐름:  Ethernet  →  IPC (A72↔R5)  →  CAN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 ·  Sensing 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인지(Perception) — 카메라 영상 기반 차선 인식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10896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Cortex-A53 Quad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TOPS (1.0GHz)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2GB LPDDR4X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MIPI CSI-2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Gigabit Ethernet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AI-G가 담당하는 작업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840480" y="1975104"/>
            <a:ext cx="274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38404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 캡처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 CSI-2 연결 카메라로부터 전방 주행 영상을 실시간 획득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0" y="2706624"/>
            <a:ext cx="274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384048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기반 차선 추론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tc-nn-app 런타임 상에서 MobileNet-V2 + U-Net 모델을 8TOPS NPU로 실행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3438144"/>
            <a:ext cx="274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38404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06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후처리: 좌표화 + 실선/점선 분류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062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결과를 차선 좌표 배열과 차선 종류 레이블로 변환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0" y="4169664"/>
            <a:ext cx="2743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384048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06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데이터 터미널 출력 및 송신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062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결과를 터미널에서 로그로 확인(디버그) 후 Ethernet을 통해 D3-G로 TCP 전송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 ·  HPC 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판단(Decision) — A72와 R5의 역할 분리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 (TCC8050)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051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코어 구조:  Application Core (Cortex-A72) + MCU Core (Cortex-R5)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977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73152" cy="2971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8580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Cortex-A72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2212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· Linux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1965960"/>
            <a:ext cx="1188720" cy="25603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306324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로직 · 판정 · 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2514600"/>
            <a:ext cx="3520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713232" y="271576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68680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처리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529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조이스틱(USB HID) 입력값을 조향/속도로 해석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" y="312724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868680" y="30632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데이터 수신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3264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AI-G로부터 Ethernet TCP로 인지 결과 수신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353872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68680" y="3474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판정 및 제어 결정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거리·접근속도·실선여부 조합으로 오버라이드 판단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" y="395020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68680" y="3886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명령을 R5에 IPC 전달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40873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조향·속도·LED·경고음 명령을 IPC 패킷으로 전송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3232" y="436168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868680" y="42976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계기판 App UI 출력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498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기반 앱으로 제어권 상태, 속도 등 시각화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1828800"/>
            <a:ext cx="3977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4709160" y="1828800"/>
            <a:ext cx="73152" cy="2971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493776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Cortex-R5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37760" y="2212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Core · FreeRTOS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0" y="1965960"/>
            <a:ext cx="1188720" cy="256032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731520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 · CAN 송신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2514600"/>
            <a:ext cx="35204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Shape 39"/>
          <p:cNvSpPr/>
          <p:nvPr/>
        </p:nvSpPr>
        <p:spPr>
          <a:xfrm>
            <a:off x="4965192" y="27157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5120640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수신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28529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A72로부터 제어 명령 패킷 수신 (헤더 + 명령 + CRC)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65192" y="323011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5120640" y="316611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드라이버 제어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20640" y="336727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CAN ID와 데이터로 프레임 생성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65192" y="37444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5120640" y="36804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VCP-G로 CAN 송신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20640" y="38816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Transceiver를 통해 VCP-G의 R5로 메시지 전달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65192" y="425881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5120640" y="419481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영역 분리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120640" y="439597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A72 장애 시에도 차량 제어 경로를 독립적으로 유지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  ·  Control 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구동(Actuation) — 실제 모형 차량 제어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310896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FreeRTOS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118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374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3374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GPIO, PDM,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630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3630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3886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Motor,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1422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4142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Servo, LED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OUTPUTS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제어하는가?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840480" y="1920240"/>
            <a:ext cx="4846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3840480" y="1920240"/>
            <a:ext cx="54864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397764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모터 (후륜 구동)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77640" y="2231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IN1/IN2로 회전 방향, PDM 듀티(0~80%)로 속도 제어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69480" y="2103120"/>
            <a:ext cx="1280160" cy="25603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726948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0x106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2624328"/>
            <a:ext cx="4846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3840480" y="2624328"/>
            <a:ext cx="54864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397764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서보 모터 (전륜 조향)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977640" y="2935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50Hz PDM · 듀티 0.5~2.5ms로 0~127° 각도 출력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69480" y="2807208"/>
            <a:ext cx="1280160" cy="256032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7269480" y="2807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0x107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3328416"/>
            <a:ext cx="4846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Shape 39"/>
          <p:cNvSpPr/>
          <p:nvPr/>
        </p:nvSpPr>
        <p:spPr>
          <a:xfrm>
            <a:off x="3840480" y="332841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3977640" y="3374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(상태 표시)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977640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브레이크등, 좌/우 방향지시등, 전조등, 경고등 GPIO ON/OFF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69480" y="3511296"/>
            <a:ext cx="128016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726948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0x101~0x104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40480" y="4032504"/>
            <a:ext cx="48463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3840480" y="4032504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397764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버저 (경고음)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977640" y="4343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임박 및 오버라이드 상태에서 활성, GPIO 토글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69480" y="4215384"/>
            <a:ext cx="128016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7269480" y="42153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0x103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구조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Inter-board Communication — 구간별 상세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53719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553719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97814"/>
            <a:ext cx="109728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663440" y="79781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04470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HID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166360" y="1273302"/>
            <a:ext cx="137160" cy="128016"/>
          </a:xfrm>
          <a:prstGeom prst="rt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685800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85800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 rot="5400000">
            <a:off x="1896844" y="1796796"/>
            <a:ext cx="9144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600200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MIPI CSI-2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02536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2002536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02536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 rot="5400000">
            <a:off x="3213580" y="1796796"/>
            <a:ext cx="9144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2916936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 TCP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19272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319272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9272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rot="5400000">
            <a:off x="4530316" y="1796796"/>
            <a:ext cx="9144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4233672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36008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4636008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36008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IPC→CAN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rot="5400000">
            <a:off x="5847052" y="1796796"/>
            <a:ext cx="9144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5550408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2.0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52744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5952744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52744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 rot="5400000">
            <a:off x="7163788" y="1796796"/>
            <a:ext cx="91440" cy="109728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6867144" y="235915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/ PDM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69480" y="14173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7269480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주변장치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694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258775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통신 상세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2907799"/>
            <a:ext cx="1828800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566928" y="290779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2907799"/>
            <a:ext cx="2194560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2395728" y="29077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규격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80560" y="2907799"/>
            <a:ext cx="4206240" cy="27432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4590288" y="290779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데이터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182119"/>
            <a:ext cx="1828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566928" y="318211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→ AI-G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0" y="3182119"/>
            <a:ext cx="2194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2395728" y="318211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MIPI CSI-2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480560" y="3182119"/>
            <a:ext cx="4206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4590288" y="318211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영상 프레임 (RAW)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3456439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566928" y="345643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 → D3-G(A72)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286000" y="345643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2395728" y="345643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Ethernet / TCP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480560" y="3456439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4590288" y="345643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좌/우 차선 좌표, 실선·점선 라벨, 위험도, 타임스탬프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3730759"/>
            <a:ext cx="1828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566928" y="373075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 → D3-G(A72)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0" y="3730759"/>
            <a:ext cx="2194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2395728" y="373075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HID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480560" y="3730759"/>
            <a:ext cx="4206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Text 68"/>
          <p:cNvSpPr/>
          <p:nvPr/>
        </p:nvSpPr>
        <p:spPr>
          <a:xfrm>
            <a:off x="4590288" y="373075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조향 축(X), 속도 축(Y), 트리거 버튼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005079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566928" y="400507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 A72 ↔ R5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286000" y="400507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2395728" y="40050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 (/dev/tcc_ipc_micom)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480560" y="4005079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4590288" y="400507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명령 패킷: 헤더 + 명령 + CRC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279399"/>
            <a:ext cx="1828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566928" y="427939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D3-G(R5) → VCP-G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286000" y="4279399"/>
            <a:ext cx="21945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Text 78"/>
          <p:cNvSpPr/>
          <p:nvPr/>
        </p:nvSpPr>
        <p:spPr>
          <a:xfrm>
            <a:off x="2395728" y="42793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 CAN 2.0 (11-bit ID)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480560" y="4279399"/>
            <a:ext cx="4206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Text 80"/>
          <p:cNvSpPr/>
          <p:nvPr/>
        </p:nvSpPr>
        <p:spPr>
          <a:xfrm>
            <a:off x="4590288" y="427939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ID별 제어 메시지 (LED, 모터, 경고)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4553719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Text 82"/>
          <p:cNvSpPr/>
          <p:nvPr/>
        </p:nvSpPr>
        <p:spPr>
          <a:xfrm>
            <a:off x="566928" y="4553719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VCP-G → 모형차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286000" y="4553719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Text 84"/>
          <p:cNvSpPr/>
          <p:nvPr/>
        </p:nvSpPr>
        <p:spPr>
          <a:xfrm>
            <a:off x="2395728" y="455371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· PDM(PWM) · I2C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480560" y="4553719"/>
            <a:ext cx="4206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Text 86"/>
          <p:cNvSpPr/>
          <p:nvPr/>
        </p:nvSpPr>
        <p:spPr>
          <a:xfrm>
            <a:off x="4590288" y="4553719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핀, PWM 듀티, LCD</a:t>
            </a:r>
            <a:endParaRPr lang="en-US" sz="950" dirty="0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441CD3AC-8599-7556-0747-E9B52C1B7ADA}"/>
              </a:ext>
            </a:extLst>
          </p:cNvPr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156D3A3A-DC57-736D-D468-8D12E4F0C212}"/>
              </a:ext>
            </a:extLst>
          </p:cNvPr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메시지 정의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can_vcp_ctrl.c 그대로 사용 + 신규 2개 추가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5544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66928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73152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2121408" y="1097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352044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2852928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구조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97280"/>
            <a:ext cx="64008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373368" y="1097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444752"/>
            <a:ext cx="15544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66928" y="1444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Light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1444752"/>
            <a:ext cx="73152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2121408" y="14447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1444752"/>
            <a:ext cx="35204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2852928" y="1444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on=0x01 / off=0x02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444752"/>
            <a:ext cx="6400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355080" y="1499616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355080" y="1499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1755648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566928" y="1755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Signal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175564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2121408" y="17556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1755648"/>
            <a:ext cx="3520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2852928" y="1755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left=0x01, right=0x02  [1]: on/off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175564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355080" y="1810512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355080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066544"/>
            <a:ext cx="15544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566928" y="2066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Signal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2066544"/>
            <a:ext cx="73152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2121408" y="20665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2066544"/>
            <a:ext cx="35204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2852928" y="20665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on=0x01 (경고음 연동)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2066544"/>
            <a:ext cx="6400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6355080" y="2121408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6355080" y="2121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37744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566928" y="23774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Light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0" y="2377440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2121408" y="23774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0" y="2377440"/>
            <a:ext cx="3520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2852928" y="23774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on=0x01 / off=0x02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237744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Shape 49"/>
          <p:cNvSpPr/>
          <p:nvPr/>
        </p:nvSpPr>
        <p:spPr>
          <a:xfrm>
            <a:off x="6355080" y="2432304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6355080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2688336"/>
            <a:ext cx="15544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566928" y="2688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Speed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011680" y="2688336"/>
            <a:ext cx="73152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2121408" y="26883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0" y="2688336"/>
            <a:ext cx="35204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2852928" y="26883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0~80 (DC 모터 duty %)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2688336"/>
            <a:ext cx="64008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355080" y="2743200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355080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2999232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Text 61"/>
          <p:cNvSpPr/>
          <p:nvPr/>
        </p:nvSpPr>
        <p:spPr>
          <a:xfrm>
            <a:off x="566928" y="2999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Angle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011680" y="2999232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2121408" y="29992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0x107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0" y="2999232"/>
            <a:ext cx="3520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Text 65"/>
          <p:cNvSpPr/>
          <p:nvPr/>
        </p:nvSpPr>
        <p:spPr>
          <a:xfrm>
            <a:off x="2852928" y="29992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0~127 (서보 각도)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63640" y="299923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Shape 67"/>
          <p:cNvSpPr/>
          <p:nvPr/>
        </p:nvSpPr>
        <p:spPr>
          <a:xfrm>
            <a:off x="6355080" y="3054096"/>
            <a:ext cx="45720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Text 68"/>
          <p:cNvSpPr/>
          <p:nvPr/>
        </p:nvSpPr>
        <p:spPr>
          <a:xfrm>
            <a:off x="635508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" y="3310128"/>
            <a:ext cx="155448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566928" y="3310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Authority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011680" y="3310128"/>
            <a:ext cx="73152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2121408" y="33101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0" y="3310128"/>
            <a:ext cx="352044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2852928" y="33101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USER=0x01 / BOARD=0x02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263640" y="3310128"/>
            <a:ext cx="64008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Shape 76"/>
          <p:cNvSpPr/>
          <p:nvPr/>
        </p:nvSpPr>
        <p:spPr>
          <a:xfrm>
            <a:off x="6355080" y="3364992"/>
            <a:ext cx="4572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9" name="Text 77"/>
          <p:cNvSpPr/>
          <p:nvPr/>
        </p:nvSpPr>
        <p:spPr>
          <a:xfrm>
            <a:off x="635508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57200" y="3621024"/>
            <a:ext cx="155448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1" name="Text 79"/>
          <p:cNvSpPr/>
          <p:nvPr/>
        </p:nvSpPr>
        <p:spPr>
          <a:xfrm>
            <a:off x="566928" y="3621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Status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011680" y="3621024"/>
            <a:ext cx="73152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Text 81"/>
          <p:cNvSpPr/>
          <p:nvPr/>
        </p:nvSpPr>
        <p:spPr>
          <a:xfrm>
            <a:off x="2121408" y="36210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743200" y="3621024"/>
            <a:ext cx="352044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5" name="Text 83"/>
          <p:cNvSpPr/>
          <p:nvPr/>
        </p:nvSpPr>
        <p:spPr>
          <a:xfrm>
            <a:off x="2852928" y="36210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[0]: safe/warn/depart  [1]: solid/dashed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263640" y="3621024"/>
            <a:ext cx="640080" cy="310896"/>
          </a:xfrm>
          <a:prstGeom prst="rect">
            <a:avLst/>
          </a:prstGeom>
          <a:solidFill>
            <a:srgbClr val="FFF4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7" name="Shape 85"/>
          <p:cNvSpPr/>
          <p:nvPr/>
        </p:nvSpPr>
        <p:spPr>
          <a:xfrm>
            <a:off x="6355080" y="3675888"/>
            <a:ext cx="4572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Text 86"/>
          <p:cNvSpPr/>
          <p:nvPr/>
        </p:nvSpPr>
        <p:spPr>
          <a:xfrm>
            <a:off x="6355080" y="3675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040880" y="1097280"/>
            <a:ext cx="1645920" cy="3108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Text 88"/>
          <p:cNvSpPr/>
          <p:nvPr/>
        </p:nvSpPr>
        <p:spPr>
          <a:xfrm>
            <a:off x="71780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메시지 설계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7178040" y="1554480"/>
            <a:ext cx="1371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0x110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Authority
</a:t>
            </a: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제어권 주체를 표시. 계기판 App UI 색상·아이콘, 조향 입력 무시 여부를 결정하는 근거.
</a:t>
            </a: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0x111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Status
</a:t>
            </a: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상태와 종류. 계기판에서 실선/점선 경고를 다르게 표시하고, 경고음 패턴을 분기하는 데 사용.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FFF4ED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3" name="Text 91"/>
          <p:cNvSpPr/>
          <p:nvPr/>
        </p:nvSpPr>
        <p:spPr>
          <a:xfrm>
            <a:off x="640080" y="4434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AI-G → D3-G 패킷 포맷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추론 결과의 실제 출력 텐서 구조(차선 포인트 수 · 종류 표현 방식)를 확인한 뒤 확정. 현재 설계 단계.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조작 및 제어권 오버라이드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↔ 보드 제어권 전환 상태 머신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" y="109728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3434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" y="14813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제어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 입력이 그대로 모터에 반영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040380" y="1490472"/>
            <a:ext cx="219456" cy="21945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314700" y="109728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31470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4700" y="14813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상태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470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경고음만 활성, 제어권은 사용자 유지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920740" y="1490472"/>
            <a:ext cx="219456" cy="21945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6195060" y="109728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19506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OVERRIDE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5060" y="14813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개입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506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 무시, 보드가 조향·감속 수행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2286000"/>
            <a:ext cx="57607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1691640" y="2148840"/>
            <a:ext cx="0" cy="13716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7452360" y="2148840"/>
            <a:ext cx="0" cy="13716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1651698" y="2084832"/>
            <a:ext cx="128016" cy="128016"/>
          </a:xfrm>
          <a:prstGeom prst="rtTriangl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491740" y="22860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 차선 복귀 (Tout · 홀드시간 Th 충족)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457200" y="2697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오버라이드 진입 조건  (AND)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31546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 차선까지의 픽셀 거리 &lt; 진입 임계값 Tin
</a:t>
            </a: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차선이 실선으로 분류됨
</a:t>
            </a: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쪽으로의 접근속도 &gt; 0 (이탈 진행 중)
</a:t>
            </a: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방향 방향지시등이 켜져 있지 않음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69748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4754880" y="2697480"/>
            <a:ext cx="393192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754880" y="2697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오버라이드 해제 조건  (AND)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15468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차선까지의 거리 &gt; 해제 임계값 Tout (&gt;Tin, 채터링 방지)
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상태가 홀드시간 Th (예: 1초) 이상 유지
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heading이 차선과 평행에 가까움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(각도 편차 &lt; 임계각)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물품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Materials — 보유 / 구매 필요 구분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85800" y="1161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 및 임베디드 장비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1773936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13816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TOPST AI-G 보드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28216" y="1737360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728216" y="1737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1975104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813816" y="1911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TOPST D3-G 보드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28216" y="1938528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728216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13816" y="2112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TOPST VCP-G 보드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28216" y="2139696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728216" y="21396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78025" y="1773936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2596896" y="1709928"/>
            <a:ext cx="1485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 CSI 카메라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1" y="1737360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3749041" y="1737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78025" y="1975104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2596896" y="1911096"/>
            <a:ext cx="1485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허브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케이블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1" y="1938528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3749041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78025" y="2176272"/>
            <a:ext cx="73152" cy="7315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2596896" y="2112264"/>
            <a:ext cx="1485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USB-to-TTL UART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1" y="2139696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3749041" y="21396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10515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4709160" y="1051560"/>
            <a:ext cx="73152" cy="1874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4937760" y="1161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 차량 및 액추에이터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937760" y="177393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5065776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모형 차량 섀시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1737360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172200" y="1737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37760" y="197510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065776" y="1911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모터 (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후륜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구동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1938528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6172200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937760" y="217627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5065776" y="2112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서보 모터 (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전륜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조향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2139696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6172200" y="21396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39712" y="1773936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6967728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모터 드라이버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74152" y="1737360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8074152" y="1737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39712" y="1975104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6967728" y="1911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다수 (상태 표시)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74152" y="1938528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8074152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839712" y="2176272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6967728" y="2112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점퍼선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저항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74152" y="2139696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8074152" y="21396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5720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6" name="Shape 64"/>
          <p:cNvSpPr/>
          <p:nvPr/>
        </p:nvSpPr>
        <p:spPr>
          <a:xfrm>
            <a:off x="457200" y="3063240"/>
            <a:ext cx="73152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7" name="Text 65"/>
          <p:cNvSpPr/>
          <p:nvPr/>
        </p:nvSpPr>
        <p:spPr>
          <a:xfrm>
            <a:off x="68580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8580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입력장치 · 부가 부품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85800" y="3785616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Text 68"/>
          <p:cNvSpPr/>
          <p:nvPr/>
        </p:nvSpPr>
        <p:spPr>
          <a:xfrm>
            <a:off x="813816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조이스틱 (USB HID)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920240" y="3749040"/>
            <a:ext cx="54864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1920240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85800" y="3986784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813816" y="3922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피에조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스피커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920240" y="3950208"/>
            <a:ext cx="54864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1920240" y="39502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514600" y="3785616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2642616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전용 배터리 팩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749040" y="3749040"/>
            <a:ext cx="5486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Text 78"/>
          <p:cNvSpPr/>
          <p:nvPr/>
        </p:nvSpPr>
        <p:spPr>
          <a:xfrm>
            <a:off x="3749040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보유/확인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70916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2" name="Shape 80"/>
          <p:cNvSpPr/>
          <p:nvPr/>
        </p:nvSpPr>
        <p:spPr>
          <a:xfrm>
            <a:off x="4709160" y="3063240"/>
            <a:ext cx="7315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3" name="Text 81"/>
          <p:cNvSpPr/>
          <p:nvPr/>
        </p:nvSpPr>
        <p:spPr>
          <a:xfrm>
            <a:off x="493776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93776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환경 · 소프트웨어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937760" y="37856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Text 84"/>
          <p:cNvSpPr/>
          <p:nvPr/>
        </p:nvSpPr>
        <p:spPr>
          <a:xfrm>
            <a:off x="5065776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</a:t>
            </a:r>
            <a:r>
              <a:rPr lang="en-US" altLang="ko-KR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ko-KR" alt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172200" y="3749040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Text 86"/>
          <p:cNvSpPr/>
          <p:nvPr/>
        </p:nvSpPr>
        <p:spPr>
          <a:xfrm>
            <a:off x="6172200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937760" y="39867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Text 88"/>
          <p:cNvSpPr/>
          <p:nvPr/>
        </p:nvSpPr>
        <p:spPr>
          <a:xfrm>
            <a:off x="5065776" y="3922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-toolkit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-app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172200" y="3950208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2" name="Text 90"/>
          <p:cNvSpPr/>
          <p:nvPr/>
        </p:nvSpPr>
        <p:spPr>
          <a:xfrm>
            <a:off x="6172200" y="39502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847925" y="37856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4" name="Text 92"/>
          <p:cNvSpPr/>
          <p:nvPr/>
        </p:nvSpPr>
        <p:spPr>
          <a:xfrm>
            <a:off x="6975941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/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082365" y="3749040"/>
            <a:ext cx="5486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Text 94"/>
          <p:cNvSpPr/>
          <p:nvPr/>
        </p:nvSpPr>
        <p:spPr>
          <a:xfrm>
            <a:off x="8082365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847925" y="39867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8" name="Text 96"/>
          <p:cNvSpPr/>
          <p:nvPr/>
        </p:nvSpPr>
        <p:spPr>
          <a:xfrm>
            <a:off x="6975941" y="3922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학습 데이터셋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082365" y="3950208"/>
            <a:ext cx="5486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0" name="Text 98"/>
          <p:cNvSpPr/>
          <p:nvPr/>
        </p:nvSpPr>
        <p:spPr>
          <a:xfrm>
            <a:off x="8082365" y="39502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수집/선정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0120" y="292608"/>
            <a:ext cx="54864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환경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621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— 시연 및 검증 계획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차선이탈 자동 복귀 시스템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 · 정은진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389120" cy="3063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트랙 구성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3840480" cy="1371600"/>
          </a:xfrm>
          <a:prstGeom prst="rect">
            <a:avLst/>
          </a:prstGeom>
          <a:solidFill>
            <a:srgbClr val="2A3447"/>
          </a:solidFill>
          <a:ln w="12700">
            <a:solidFill>
              <a:srgbClr val="2A344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822960" y="2084832"/>
            <a:ext cx="3657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1810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(Solid)  →  절대 넘지 말 것, 오버라이드 발동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2296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131064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79832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228600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277368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326136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74904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4236720" y="2665476"/>
            <a:ext cx="2438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(Dashed)  →  차선 변경 허용, 경고만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23160" y="2249424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2423160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 + 완만한 곡선 · 실선과 점선 구간을 모두 포함한 경로로 제작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시나리오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20640" y="187452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512064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184708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주행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중앙 유지 시 제어권이 사용자에게 있음을 확인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242316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5120640" y="2423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239572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이탈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2624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접근 시 경고음 + 조향 복귀 동작 확인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297180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5120640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294436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이탈 (무방향지시)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경고음만 울리고 오버라이드는 발동 안 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352044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5120640" y="3520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34930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이탈 (방향지시 있음)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없이 차선 변경 허용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20640" y="4069080"/>
            <a:ext cx="201168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12064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94960" y="404164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제어권 복귀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9496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충족 후 홀드시간 경과 시 사용자에게 반환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FF4ED"/>
          </a:solidFill>
          <a:ln w="12700">
            <a:solidFill>
              <a:srgbClr val="FFF4E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환경:  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모형차를 테스트 트랙에서 주행시키며 카메라 → NPU → 제어 전체 흐름을 실시간 검증</a:t>
            </a:r>
            <a:endParaRPr lang="en-US" sz="1000" dirty="0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C13848E5-B925-DE57-AF93-EC30F0ACB062}"/>
              </a:ext>
            </a:extLst>
          </p:cNvPr>
          <p:cNvSpPr/>
          <p:nvPr/>
        </p:nvSpPr>
        <p:spPr>
          <a:xfrm>
            <a:off x="822960" y="3246120"/>
            <a:ext cx="36576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4114800" y="2606040"/>
            <a:ext cx="9144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경청해 주셔서 감사합니다.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LDAR  ·  Lane Departure Auto-Recovery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서준상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전자전기공학부    | 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정은진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소프트웨어공학부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2347</Words>
  <Application>Microsoft Macintosh PowerPoint</Application>
  <PresentationFormat>On-screen Show (16:9)</PresentationFormat>
  <Paragraphs>564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Consolas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차선이탈 자동 복귀 시스템</dc:title>
  <dc:subject>PptxGenJS Presentation</dc:subject>
  <dc:creator>서준상, 정은진</dc:creator>
  <cp:lastModifiedBy>서준상</cp:lastModifiedBy>
  <cp:revision>4</cp:revision>
  <dcterms:created xsi:type="dcterms:W3CDTF">2026-04-16T23:05:10Z</dcterms:created>
  <dcterms:modified xsi:type="dcterms:W3CDTF">2026-04-16T23:35:42Z</dcterms:modified>
</cp:coreProperties>
</file>